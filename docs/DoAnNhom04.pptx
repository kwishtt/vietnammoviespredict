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Lst>
  <p:sldSz cx="18288000" cy="10287000"/>
  <p:notesSz cx="6858000" cy="9144000"/>
  <p:embeddedFontLst>
    <p:embeddedFont>
      <p:font typeface="Telegraf Bold" charset="1" panose="00000800000000000000"/>
      <p:regular r:id="rId15"/>
    </p:embeddedFont>
    <p:embeddedFont>
      <p:font typeface="Poppins Bold" charset="1" panose="00000800000000000000"/>
      <p:regular r:id="rId16"/>
    </p:embeddedFont>
    <p:embeddedFont>
      <p:font typeface="Poppins" charset="1" panose="00000500000000000000"/>
      <p:regular r:id="rId17"/>
    </p:embeddedFont>
    <p:embeddedFont>
      <p:font typeface="Cabin Bold" charset="1" panose="00000800000000000000"/>
      <p:regular r:id="rId18"/>
    </p:embeddedFont>
    <p:embeddedFont>
      <p:font typeface="Telegraf" charset="1" panose="00000500000000000000"/>
      <p:regular r:id="rId19"/>
    </p:embeddedFont>
    <p:embeddedFont>
      <p:font typeface="Poppins Semi-Bold" charset="1" panose="00000700000000000000"/>
      <p:regular r:id="rId20"/>
    </p:embeddedFont>
    <p:embeddedFont>
      <p:font typeface="Poppins Italics" charset="1" panose="00000500000000000000"/>
      <p:regular r:id="rId21"/>
    </p:embeddedFont>
    <p:embeddedFont>
      <p:font typeface="Open Sauce" charset="1" panose="00000500000000000000"/>
      <p:regular r:id="rId22"/>
    </p:embeddedFont>
    <p:embeddedFont>
      <p:font typeface="Canva Sans" charset="1" panose="020B0503030501040103"/>
      <p:regular r:id="rId23"/>
    </p:embeddedFont>
    <p:embeddedFont>
      <p:font typeface="Garet Heavy" charset="1" panose="00000000000000000000"/>
      <p:regular r:id="rId24"/>
    </p:embeddedFont>
    <p:embeddedFont>
      <p:font typeface="Poppins Bold Italics" charset="1" panose="00000800000000000000"/>
      <p:regular r:id="rId25"/>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fonts/font15.fntdata" Type="http://schemas.openxmlformats.org/officeDocument/2006/relationships/font"/><Relationship Id="rId16" Target="fonts/font16.fntdata" Type="http://schemas.openxmlformats.org/officeDocument/2006/relationships/font"/><Relationship Id="rId17" Target="fonts/font17.fntdata" Type="http://schemas.openxmlformats.org/officeDocument/2006/relationships/font"/><Relationship Id="rId18" Target="fonts/font18.fntdata" Type="http://schemas.openxmlformats.org/officeDocument/2006/relationships/font"/><Relationship Id="rId19" Target="fonts/font19.fntdata" Type="http://schemas.openxmlformats.org/officeDocument/2006/relationships/font"/><Relationship Id="rId2" Target="presProps.xml" Type="http://schemas.openxmlformats.org/officeDocument/2006/relationships/presProps"/><Relationship Id="rId20" Target="fonts/font20.fntdata" Type="http://schemas.openxmlformats.org/officeDocument/2006/relationships/font"/><Relationship Id="rId21" Target="fonts/font21.fntdata" Type="http://schemas.openxmlformats.org/officeDocument/2006/relationships/font"/><Relationship Id="rId22" Target="fonts/font22.fntdata" Type="http://schemas.openxmlformats.org/officeDocument/2006/relationships/font"/><Relationship Id="rId23" Target="fonts/font23.fntdata" Type="http://schemas.openxmlformats.org/officeDocument/2006/relationships/font"/><Relationship Id="rId24" Target="fonts/font24.fntdata" Type="http://schemas.openxmlformats.org/officeDocument/2006/relationships/font"/><Relationship Id="rId25" Target="fonts/font25.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jpe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00000">
                <a:alpha val="100000"/>
              </a:srgbClr>
            </a:gs>
            <a:gs pos="100000">
              <a:srgbClr val="09033D">
                <a:alpha val="100000"/>
              </a:srgbClr>
            </a:gs>
          </a:gsLst>
          <a:path path="circle">
            <a:fillToRect l="0" r="100000" t="0" b="100000"/>
          </a:path>
          <a:tileRect r="0" l="-100000" b="0" t="-100000"/>
        </a:gradFill>
      </p:bgPr>
    </p:bg>
    <p:spTree>
      <p:nvGrpSpPr>
        <p:cNvPr id="1" name=""/>
        <p:cNvGrpSpPr/>
        <p:nvPr/>
      </p:nvGrpSpPr>
      <p:grpSpPr>
        <a:xfrm>
          <a:off x="0" y="0"/>
          <a:ext cx="0" cy="0"/>
          <a:chOff x="0" y="0"/>
          <a:chExt cx="0" cy="0"/>
        </a:xfrm>
      </p:grpSpPr>
      <p:grpSp>
        <p:nvGrpSpPr>
          <p:cNvPr name="Group 2" id="2"/>
          <p:cNvGrpSpPr/>
          <p:nvPr/>
        </p:nvGrpSpPr>
        <p:grpSpPr>
          <a:xfrm rot="0">
            <a:off x="532371" y="281999"/>
            <a:ext cx="12685628" cy="10584072"/>
            <a:chOff x="0" y="0"/>
            <a:chExt cx="16914170" cy="14112096"/>
          </a:xfrm>
        </p:grpSpPr>
        <p:grpSp>
          <p:nvGrpSpPr>
            <p:cNvPr name="Group 3" id="3"/>
            <p:cNvGrpSpPr/>
            <p:nvPr/>
          </p:nvGrpSpPr>
          <p:grpSpPr>
            <a:xfrm rot="0">
              <a:off x="0" y="0"/>
              <a:ext cx="16914170" cy="11088964"/>
              <a:chOff x="0" y="0"/>
              <a:chExt cx="3851749" cy="2525215"/>
            </a:xfrm>
          </p:grpSpPr>
          <p:sp>
            <p:nvSpPr>
              <p:cNvPr name="Freeform 4" id="4"/>
              <p:cNvSpPr/>
              <p:nvPr/>
            </p:nvSpPr>
            <p:spPr>
              <a:xfrm flipH="false" flipV="false" rot="0">
                <a:off x="0" y="0"/>
                <a:ext cx="3851749" cy="2525215"/>
              </a:xfrm>
              <a:custGeom>
                <a:avLst/>
                <a:gdLst/>
                <a:ahLst/>
                <a:cxnLst/>
                <a:rect r="r" b="b" t="t" l="l"/>
                <a:pathLst>
                  <a:path h="2525215" w="3851749">
                    <a:moveTo>
                      <a:pt x="29645" y="0"/>
                    </a:moveTo>
                    <a:lnTo>
                      <a:pt x="3822104" y="0"/>
                    </a:lnTo>
                    <a:cubicBezTo>
                      <a:pt x="3829967" y="0"/>
                      <a:pt x="3837507" y="3123"/>
                      <a:pt x="3843067" y="8683"/>
                    </a:cubicBezTo>
                    <a:cubicBezTo>
                      <a:pt x="3848626" y="14242"/>
                      <a:pt x="3851749" y="21783"/>
                      <a:pt x="3851749" y="29645"/>
                    </a:cubicBezTo>
                    <a:lnTo>
                      <a:pt x="3851749" y="2495570"/>
                    </a:lnTo>
                    <a:cubicBezTo>
                      <a:pt x="3851749" y="2503432"/>
                      <a:pt x="3848626" y="2510972"/>
                      <a:pt x="3843067" y="2516532"/>
                    </a:cubicBezTo>
                    <a:cubicBezTo>
                      <a:pt x="3837507" y="2522091"/>
                      <a:pt x="3829967" y="2525215"/>
                      <a:pt x="3822104" y="2525215"/>
                    </a:cubicBezTo>
                    <a:lnTo>
                      <a:pt x="29645" y="2525215"/>
                    </a:lnTo>
                    <a:cubicBezTo>
                      <a:pt x="21783" y="2525215"/>
                      <a:pt x="14242" y="2522091"/>
                      <a:pt x="8683" y="2516532"/>
                    </a:cubicBezTo>
                    <a:cubicBezTo>
                      <a:pt x="3123" y="2510972"/>
                      <a:pt x="0" y="2503432"/>
                      <a:pt x="0" y="2495570"/>
                    </a:cubicBezTo>
                    <a:lnTo>
                      <a:pt x="0" y="29645"/>
                    </a:lnTo>
                    <a:cubicBezTo>
                      <a:pt x="0" y="21783"/>
                      <a:pt x="3123" y="14242"/>
                      <a:pt x="8683" y="8683"/>
                    </a:cubicBezTo>
                    <a:cubicBezTo>
                      <a:pt x="14242" y="3123"/>
                      <a:pt x="21783" y="0"/>
                      <a:pt x="29645" y="0"/>
                    </a:cubicBezTo>
                    <a:close/>
                  </a:path>
                </a:pathLst>
              </a:custGeom>
              <a:solidFill>
                <a:srgbClr val="FFFFFF">
                  <a:alpha val="21961"/>
                </a:srgbClr>
              </a:solidFill>
            </p:spPr>
          </p:sp>
          <p:sp>
            <p:nvSpPr>
              <p:cNvPr name="TextBox 5" id="5"/>
              <p:cNvSpPr txBox="true"/>
              <p:nvPr/>
            </p:nvSpPr>
            <p:spPr>
              <a:xfrm>
                <a:off x="0" y="-38100"/>
                <a:ext cx="3851749" cy="2563315"/>
              </a:xfrm>
              <a:prstGeom prst="rect">
                <a:avLst/>
              </a:prstGeom>
            </p:spPr>
            <p:txBody>
              <a:bodyPr anchor="ctr" rtlCol="false" tIns="50800" lIns="50800" bIns="50800" rIns="50800"/>
              <a:lstStyle/>
              <a:p>
                <a:pPr algn="ctr">
                  <a:lnSpc>
                    <a:spcPts val="2659"/>
                  </a:lnSpc>
                  <a:spcBef>
                    <a:spcPct val="0"/>
                  </a:spcBef>
                </a:pPr>
              </a:p>
            </p:txBody>
          </p:sp>
        </p:grpSp>
        <p:sp>
          <p:nvSpPr>
            <p:cNvPr name="Freeform 6" id="6"/>
            <p:cNvSpPr/>
            <p:nvPr/>
          </p:nvSpPr>
          <p:spPr>
            <a:xfrm flipH="false" flipV="false" rot="0">
              <a:off x="202974" y="345840"/>
              <a:ext cx="519789" cy="519789"/>
            </a:xfrm>
            <a:custGeom>
              <a:avLst/>
              <a:gdLst/>
              <a:ahLst/>
              <a:cxnLst/>
              <a:rect r="r" b="b" t="t" l="l"/>
              <a:pathLst>
                <a:path h="519789" w="519789">
                  <a:moveTo>
                    <a:pt x="0" y="0"/>
                  </a:moveTo>
                  <a:lnTo>
                    <a:pt x="519789" y="0"/>
                  </a:lnTo>
                  <a:lnTo>
                    <a:pt x="519789" y="519789"/>
                  </a:lnTo>
                  <a:lnTo>
                    <a:pt x="0" y="51978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7" id="7"/>
            <p:cNvSpPr/>
            <p:nvPr/>
          </p:nvSpPr>
          <p:spPr>
            <a:xfrm flipH="false" flipV="false" rot="0">
              <a:off x="1900313" y="5472817"/>
              <a:ext cx="13113545" cy="8639279"/>
            </a:xfrm>
            <a:custGeom>
              <a:avLst/>
              <a:gdLst/>
              <a:ahLst/>
              <a:cxnLst/>
              <a:rect r="r" b="b" t="t" l="l"/>
              <a:pathLst>
                <a:path h="8639279" w="13113545">
                  <a:moveTo>
                    <a:pt x="0" y="0"/>
                  </a:moveTo>
                  <a:lnTo>
                    <a:pt x="13113545" y="0"/>
                  </a:lnTo>
                  <a:lnTo>
                    <a:pt x="13113545" y="8639279"/>
                  </a:lnTo>
                  <a:lnTo>
                    <a:pt x="0" y="8639279"/>
                  </a:lnTo>
                  <a:lnTo>
                    <a:pt x="0" y="0"/>
                  </a:lnTo>
                  <a:close/>
                </a:path>
              </a:pathLst>
            </a:custGeom>
            <a:blipFill>
              <a:blip r:embed="rId4">
                <a:alphaModFix amt="73000"/>
              </a:blip>
              <a:stretch>
                <a:fillRect l="-4559" t="0" r="-4559" b="0"/>
              </a:stretch>
            </a:blipFill>
          </p:spPr>
        </p:sp>
        <p:sp>
          <p:nvSpPr>
            <p:cNvPr name="TextBox 8" id="8"/>
            <p:cNvSpPr txBox="true"/>
            <p:nvPr/>
          </p:nvSpPr>
          <p:spPr>
            <a:xfrm rot="0">
              <a:off x="1923135" y="1318120"/>
              <a:ext cx="12749755" cy="3095326"/>
            </a:xfrm>
            <a:prstGeom prst="rect">
              <a:avLst/>
            </a:prstGeom>
          </p:spPr>
          <p:txBody>
            <a:bodyPr anchor="t" rtlCol="false" tIns="0" lIns="0" bIns="0" rIns="0">
              <a:spAutoFit/>
            </a:bodyPr>
            <a:lstStyle/>
            <a:p>
              <a:pPr algn="ctr">
                <a:lnSpc>
                  <a:spcPts val="9250"/>
                </a:lnSpc>
                <a:spcBef>
                  <a:spcPct val="0"/>
                </a:spcBef>
              </a:pPr>
              <a:r>
                <a:rPr lang="en-US" b="true" sz="6607" spc="-297">
                  <a:solidFill>
                    <a:srgbClr val="FFFFFF"/>
                  </a:solidFill>
                  <a:latin typeface="Telegraf Bold"/>
                  <a:ea typeface="Telegraf Bold"/>
                  <a:cs typeface="Telegraf Bold"/>
                  <a:sym typeface="Telegraf Bold"/>
                </a:rPr>
                <a:t>Dự Đoán </a:t>
              </a:r>
              <a:r>
                <a:rPr lang="en-US" b="true" sz="6607" spc="-297">
                  <a:gradFill>
                    <a:gsLst>
                      <a:gs pos="0">
                        <a:srgbClr val="8C52FF">
                          <a:alpha val="100000"/>
                        </a:srgbClr>
                      </a:gs>
                      <a:gs pos="100000">
                        <a:srgbClr val="5CE1E6">
                          <a:alpha val="100000"/>
                        </a:srgbClr>
                      </a:gs>
                    </a:gsLst>
                    <a:lin ang="0"/>
                  </a:gradFill>
                  <a:latin typeface="Telegraf Bold"/>
                  <a:ea typeface="Telegraf Bold"/>
                  <a:cs typeface="Telegraf Bold"/>
                  <a:sym typeface="Telegraf Bold"/>
                </a:rPr>
                <a:t>Tỉ Lệ Thành Công Của Phim</a:t>
              </a:r>
            </a:p>
          </p:txBody>
        </p:sp>
        <p:sp>
          <p:nvSpPr>
            <p:cNvPr name="TextBox 9" id="9"/>
            <p:cNvSpPr txBox="true"/>
            <p:nvPr/>
          </p:nvSpPr>
          <p:spPr>
            <a:xfrm rot="0">
              <a:off x="850482" y="316262"/>
              <a:ext cx="3105927" cy="502744"/>
            </a:xfrm>
            <a:prstGeom prst="rect">
              <a:avLst/>
            </a:prstGeom>
          </p:spPr>
          <p:txBody>
            <a:bodyPr anchor="t" rtlCol="false" tIns="0" lIns="0" bIns="0" rIns="0">
              <a:spAutoFit/>
            </a:bodyPr>
            <a:lstStyle/>
            <a:p>
              <a:pPr algn="l">
                <a:lnSpc>
                  <a:spcPts val="2941"/>
                </a:lnSpc>
                <a:spcBef>
                  <a:spcPct val="0"/>
                </a:spcBef>
              </a:pPr>
              <a:r>
                <a:rPr lang="en-US" b="true" sz="2101" spc="-94">
                  <a:solidFill>
                    <a:srgbClr val="FFFFFF"/>
                  </a:solidFill>
                  <a:latin typeface="Telegraf Bold"/>
                  <a:ea typeface="Telegraf Bold"/>
                  <a:cs typeface="Telegraf Bold"/>
                  <a:sym typeface="Telegraf Bold"/>
                </a:rPr>
                <a:t>Movies Predict</a:t>
              </a:r>
            </a:p>
          </p:txBody>
        </p:sp>
        <p:sp>
          <p:nvSpPr>
            <p:cNvPr name="TextBox 10" id="10"/>
            <p:cNvSpPr txBox="true"/>
            <p:nvPr/>
          </p:nvSpPr>
          <p:spPr>
            <a:xfrm rot="0">
              <a:off x="9397012" y="323619"/>
              <a:ext cx="1922831" cy="405979"/>
            </a:xfrm>
            <a:prstGeom prst="rect">
              <a:avLst/>
            </a:prstGeom>
          </p:spPr>
          <p:txBody>
            <a:bodyPr anchor="t" rtlCol="false" tIns="0" lIns="0" bIns="0" rIns="0">
              <a:spAutoFit/>
            </a:bodyPr>
            <a:lstStyle/>
            <a:p>
              <a:pPr algn="r" marL="0" indent="0" lvl="0">
                <a:lnSpc>
                  <a:spcPts val="2491"/>
                </a:lnSpc>
                <a:spcBef>
                  <a:spcPct val="0"/>
                </a:spcBef>
              </a:pPr>
              <a:r>
                <a:rPr lang="en-US" b="true" sz="1779">
                  <a:solidFill>
                    <a:srgbClr val="FFFFFF"/>
                  </a:solidFill>
                  <a:latin typeface="Poppins Bold"/>
                  <a:ea typeface="Poppins Bold"/>
                  <a:cs typeface="Poppins Bold"/>
                  <a:sym typeface="Poppins Bold"/>
                </a:rPr>
                <a:t>Dự Đoán</a:t>
              </a:r>
            </a:p>
          </p:txBody>
        </p:sp>
        <p:sp>
          <p:nvSpPr>
            <p:cNvPr name="TextBox 11" id="11"/>
            <p:cNvSpPr txBox="true"/>
            <p:nvPr/>
          </p:nvSpPr>
          <p:spPr>
            <a:xfrm rot="0">
              <a:off x="12015594" y="326179"/>
              <a:ext cx="2205646" cy="405883"/>
            </a:xfrm>
            <a:prstGeom prst="rect">
              <a:avLst/>
            </a:prstGeom>
          </p:spPr>
          <p:txBody>
            <a:bodyPr anchor="t" rtlCol="false" tIns="0" lIns="0" bIns="0" rIns="0">
              <a:spAutoFit/>
            </a:bodyPr>
            <a:lstStyle/>
            <a:p>
              <a:pPr algn="ctr" marL="0" indent="0" lvl="0">
                <a:lnSpc>
                  <a:spcPts val="2495"/>
                </a:lnSpc>
                <a:spcBef>
                  <a:spcPct val="0"/>
                </a:spcBef>
              </a:pPr>
              <a:r>
                <a:rPr lang="en-US" sz="1782">
                  <a:solidFill>
                    <a:srgbClr val="FFFFFF"/>
                  </a:solidFill>
                  <a:latin typeface="Poppins"/>
                  <a:ea typeface="Poppins"/>
                  <a:cs typeface="Poppins"/>
                  <a:sym typeface="Poppins"/>
                </a:rPr>
                <a:t>Xu Hướng</a:t>
              </a:r>
            </a:p>
          </p:txBody>
        </p:sp>
        <p:sp>
          <p:nvSpPr>
            <p:cNvPr name="TextBox 12" id="12"/>
            <p:cNvSpPr txBox="true"/>
            <p:nvPr/>
          </p:nvSpPr>
          <p:spPr>
            <a:xfrm rot="0">
              <a:off x="14697191" y="298215"/>
              <a:ext cx="2216979" cy="405883"/>
            </a:xfrm>
            <a:prstGeom prst="rect">
              <a:avLst/>
            </a:prstGeom>
          </p:spPr>
          <p:txBody>
            <a:bodyPr anchor="t" rtlCol="false" tIns="0" lIns="0" bIns="0" rIns="0">
              <a:spAutoFit/>
            </a:bodyPr>
            <a:lstStyle/>
            <a:p>
              <a:pPr algn="ctr" marL="0" indent="0" lvl="0">
                <a:lnSpc>
                  <a:spcPts val="2495"/>
                </a:lnSpc>
                <a:spcBef>
                  <a:spcPct val="0"/>
                </a:spcBef>
              </a:pPr>
              <a:r>
                <a:rPr lang="en-US" sz="1782">
                  <a:solidFill>
                    <a:srgbClr val="FFFFFF"/>
                  </a:solidFill>
                  <a:latin typeface="Poppins"/>
                  <a:ea typeface="Poppins"/>
                  <a:cs typeface="Poppins"/>
                  <a:sym typeface="Poppins"/>
                </a:rPr>
                <a:t>Insights</a:t>
              </a:r>
            </a:p>
          </p:txBody>
        </p:sp>
      </p:grpSp>
      <p:grpSp>
        <p:nvGrpSpPr>
          <p:cNvPr name="Group 13" id="13"/>
          <p:cNvGrpSpPr/>
          <p:nvPr/>
        </p:nvGrpSpPr>
        <p:grpSpPr>
          <a:xfrm rot="0">
            <a:off x="11672676" y="1463752"/>
            <a:ext cx="6432627" cy="5349797"/>
            <a:chOff x="0" y="0"/>
            <a:chExt cx="8576836" cy="7133063"/>
          </a:xfrm>
        </p:grpSpPr>
        <p:grpSp>
          <p:nvGrpSpPr>
            <p:cNvPr name="Group 14" id="14"/>
            <p:cNvGrpSpPr/>
            <p:nvPr/>
          </p:nvGrpSpPr>
          <p:grpSpPr>
            <a:xfrm rot="0">
              <a:off x="0" y="0"/>
              <a:ext cx="8576836" cy="7133063"/>
              <a:chOff x="0" y="0"/>
              <a:chExt cx="1694190" cy="1409000"/>
            </a:xfrm>
          </p:grpSpPr>
          <p:sp>
            <p:nvSpPr>
              <p:cNvPr name="Freeform 15" id="15"/>
              <p:cNvSpPr/>
              <p:nvPr/>
            </p:nvSpPr>
            <p:spPr>
              <a:xfrm flipH="false" flipV="false" rot="0">
                <a:off x="0" y="0"/>
                <a:ext cx="1694190" cy="1409000"/>
              </a:xfrm>
              <a:custGeom>
                <a:avLst/>
                <a:gdLst/>
                <a:ahLst/>
                <a:cxnLst/>
                <a:rect r="r" b="b" t="t" l="l"/>
                <a:pathLst>
                  <a:path h="1409000" w="1694190">
                    <a:moveTo>
                      <a:pt x="104119" y="0"/>
                    </a:moveTo>
                    <a:lnTo>
                      <a:pt x="1590071" y="0"/>
                    </a:lnTo>
                    <a:cubicBezTo>
                      <a:pt x="1647574" y="0"/>
                      <a:pt x="1694190" y="46616"/>
                      <a:pt x="1694190" y="104119"/>
                    </a:cubicBezTo>
                    <a:lnTo>
                      <a:pt x="1694190" y="1304881"/>
                    </a:lnTo>
                    <a:cubicBezTo>
                      <a:pt x="1694190" y="1362385"/>
                      <a:pt x="1647574" y="1409000"/>
                      <a:pt x="1590071" y="1409000"/>
                    </a:cubicBezTo>
                    <a:lnTo>
                      <a:pt x="104119" y="1409000"/>
                    </a:lnTo>
                    <a:cubicBezTo>
                      <a:pt x="76505" y="1409000"/>
                      <a:pt x="50022" y="1398030"/>
                      <a:pt x="30496" y="1378504"/>
                    </a:cubicBezTo>
                    <a:cubicBezTo>
                      <a:pt x="10970" y="1358978"/>
                      <a:pt x="0" y="1332495"/>
                      <a:pt x="0" y="1304881"/>
                    </a:cubicBezTo>
                    <a:lnTo>
                      <a:pt x="0" y="104119"/>
                    </a:lnTo>
                    <a:cubicBezTo>
                      <a:pt x="0" y="46616"/>
                      <a:pt x="46616" y="0"/>
                      <a:pt x="104119" y="0"/>
                    </a:cubicBezTo>
                    <a:close/>
                  </a:path>
                </a:pathLst>
              </a:custGeom>
              <a:gradFill rotWithShape="true">
                <a:gsLst>
                  <a:gs pos="0">
                    <a:srgbClr val="A6A6A6">
                      <a:alpha val="15000"/>
                    </a:srgbClr>
                  </a:gs>
                  <a:gs pos="100000">
                    <a:srgbClr val="FFFFFF">
                      <a:alpha val="15000"/>
                    </a:srgbClr>
                  </a:gs>
                </a:gsLst>
                <a:lin ang="5400000"/>
              </a:gradFill>
            </p:spPr>
          </p:sp>
          <p:sp>
            <p:nvSpPr>
              <p:cNvPr name="TextBox 16" id="16"/>
              <p:cNvSpPr txBox="true"/>
              <p:nvPr/>
            </p:nvSpPr>
            <p:spPr>
              <a:xfrm>
                <a:off x="0" y="-66675"/>
                <a:ext cx="1694190" cy="1475675"/>
              </a:xfrm>
              <a:prstGeom prst="rect">
                <a:avLst/>
              </a:prstGeom>
            </p:spPr>
            <p:txBody>
              <a:bodyPr anchor="ctr" rtlCol="false" tIns="32884" lIns="32884" bIns="32884" rIns="32884"/>
              <a:lstStyle/>
              <a:p>
                <a:pPr algn="ctr">
                  <a:lnSpc>
                    <a:spcPts val="3151"/>
                  </a:lnSpc>
                </a:pPr>
              </a:p>
            </p:txBody>
          </p:sp>
        </p:grpSp>
        <p:grpSp>
          <p:nvGrpSpPr>
            <p:cNvPr name="Group 17" id="17"/>
            <p:cNvGrpSpPr/>
            <p:nvPr/>
          </p:nvGrpSpPr>
          <p:grpSpPr>
            <a:xfrm rot="0">
              <a:off x="344911" y="328068"/>
              <a:ext cx="327618" cy="327618"/>
              <a:chOff x="0" y="0"/>
              <a:chExt cx="812800" cy="812800"/>
            </a:xfrm>
          </p:grpSpPr>
          <p:sp>
            <p:nvSpPr>
              <p:cNvPr name="Freeform 18" id="18"/>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5757"/>
              </a:solidFill>
            </p:spPr>
          </p:sp>
          <p:sp>
            <p:nvSpPr>
              <p:cNvPr name="TextBox 19" id="19"/>
              <p:cNvSpPr txBox="true"/>
              <p:nvPr/>
            </p:nvSpPr>
            <p:spPr>
              <a:xfrm>
                <a:off x="76200" y="9525"/>
                <a:ext cx="660400" cy="727075"/>
              </a:xfrm>
              <a:prstGeom prst="rect">
                <a:avLst/>
              </a:prstGeom>
            </p:spPr>
            <p:txBody>
              <a:bodyPr anchor="ctr" rtlCol="false" tIns="56813" lIns="56813" bIns="56813" rIns="56813"/>
              <a:lstStyle/>
              <a:p>
                <a:pPr algn="ctr">
                  <a:lnSpc>
                    <a:spcPts val="3151"/>
                  </a:lnSpc>
                </a:pPr>
              </a:p>
            </p:txBody>
          </p:sp>
        </p:grpSp>
        <p:grpSp>
          <p:nvGrpSpPr>
            <p:cNvPr name="Group 20" id="20"/>
            <p:cNvGrpSpPr/>
            <p:nvPr/>
          </p:nvGrpSpPr>
          <p:grpSpPr>
            <a:xfrm rot="0">
              <a:off x="743021" y="328068"/>
              <a:ext cx="327618" cy="327618"/>
              <a:chOff x="0" y="0"/>
              <a:chExt cx="812800" cy="812800"/>
            </a:xfrm>
          </p:grpSpPr>
          <p:sp>
            <p:nvSpPr>
              <p:cNvPr name="Freeform 21" id="21"/>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DE59"/>
              </a:solidFill>
            </p:spPr>
          </p:sp>
          <p:sp>
            <p:nvSpPr>
              <p:cNvPr name="TextBox 22" id="22"/>
              <p:cNvSpPr txBox="true"/>
              <p:nvPr/>
            </p:nvSpPr>
            <p:spPr>
              <a:xfrm>
                <a:off x="76200" y="9525"/>
                <a:ext cx="660400" cy="727075"/>
              </a:xfrm>
              <a:prstGeom prst="rect">
                <a:avLst/>
              </a:prstGeom>
            </p:spPr>
            <p:txBody>
              <a:bodyPr anchor="ctr" rtlCol="false" tIns="56813" lIns="56813" bIns="56813" rIns="56813"/>
              <a:lstStyle/>
              <a:p>
                <a:pPr algn="ctr">
                  <a:lnSpc>
                    <a:spcPts val="3151"/>
                  </a:lnSpc>
                </a:pPr>
              </a:p>
            </p:txBody>
          </p:sp>
        </p:grpSp>
        <p:grpSp>
          <p:nvGrpSpPr>
            <p:cNvPr name="Group 23" id="23"/>
            <p:cNvGrpSpPr/>
            <p:nvPr/>
          </p:nvGrpSpPr>
          <p:grpSpPr>
            <a:xfrm rot="0">
              <a:off x="1136464" y="328068"/>
              <a:ext cx="327618" cy="327618"/>
              <a:chOff x="0" y="0"/>
              <a:chExt cx="812800" cy="812800"/>
            </a:xfrm>
          </p:grpSpPr>
          <p:sp>
            <p:nvSpPr>
              <p:cNvPr name="Freeform 24" id="2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7ED957"/>
              </a:solidFill>
            </p:spPr>
          </p:sp>
          <p:sp>
            <p:nvSpPr>
              <p:cNvPr name="TextBox 25" id="25"/>
              <p:cNvSpPr txBox="true"/>
              <p:nvPr/>
            </p:nvSpPr>
            <p:spPr>
              <a:xfrm>
                <a:off x="76200" y="9525"/>
                <a:ext cx="660400" cy="727075"/>
              </a:xfrm>
              <a:prstGeom prst="rect">
                <a:avLst/>
              </a:prstGeom>
            </p:spPr>
            <p:txBody>
              <a:bodyPr anchor="ctr" rtlCol="false" tIns="56813" lIns="56813" bIns="56813" rIns="56813"/>
              <a:lstStyle/>
              <a:p>
                <a:pPr algn="ctr">
                  <a:lnSpc>
                    <a:spcPts val="3151"/>
                  </a:lnSpc>
                </a:pPr>
              </a:p>
            </p:txBody>
          </p:sp>
        </p:grpSp>
        <p:sp>
          <p:nvSpPr>
            <p:cNvPr name="TextBox 26" id="26"/>
            <p:cNvSpPr txBox="true"/>
            <p:nvPr/>
          </p:nvSpPr>
          <p:spPr>
            <a:xfrm rot="0">
              <a:off x="344911" y="689525"/>
              <a:ext cx="6704859" cy="978112"/>
            </a:xfrm>
            <a:prstGeom prst="rect">
              <a:avLst/>
            </a:prstGeom>
          </p:spPr>
          <p:txBody>
            <a:bodyPr anchor="t" rtlCol="false" tIns="0" lIns="0" bIns="0" rIns="0">
              <a:spAutoFit/>
            </a:bodyPr>
            <a:lstStyle/>
            <a:p>
              <a:pPr algn="l">
                <a:lnSpc>
                  <a:spcPts val="6160"/>
                </a:lnSpc>
                <a:spcBef>
                  <a:spcPct val="0"/>
                </a:spcBef>
              </a:pPr>
              <a:r>
                <a:rPr lang="en-US" b="true" sz="4400" spc="-198">
                  <a:solidFill>
                    <a:srgbClr val="FFFFFF"/>
                  </a:solidFill>
                  <a:latin typeface="Cabin Bold"/>
                  <a:ea typeface="Cabin Bold"/>
                  <a:cs typeface="Cabin Bold"/>
                  <a:sym typeface="Cabin Bold"/>
                </a:rPr>
                <a:t>Sinh Viên Thực Hiện</a:t>
              </a:r>
            </a:p>
          </p:txBody>
        </p:sp>
        <p:sp>
          <p:nvSpPr>
            <p:cNvPr name="TextBox 27" id="27"/>
            <p:cNvSpPr txBox="true"/>
            <p:nvPr/>
          </p:nvSpPr>
          <p:spPr>
            <a:xfrm rot="0">
              <a:off x="2806500" y="2120755"/>
              <a:ext cx="5691531" cy="928158"/>
            </a:xfrm>
            <a:prstGeom prst="rect">
              <a:avLst/>
            </a:prstGeom>
          </p:spPr>
          <p:txBody>
            <a:bodyPr anchor="t" rtlCol="false" tIns="0" lIns="0" bIns="0" rIns="0">
              <a:spAutoFit/>
            </a:bodyPr>
            <a:lstStyle/>
            <a:p>
              <a:pPr algn="l">
                <a:lnSpc>
                  <a:spcPts val="5599"/>
                </a:lnSpc>
                <a:spcBef>
                  <a:spcPct val="0"/>
                </a:spcBef>
              </a:pPr>
              <a:r>
                <a:rPr lang="en-US" b="true" sz="3999" spc="-179">
                  <a:solidFill>
                    <a:srgbClr val="FFFFFF"/>
                  </a:solidFill>
                  <a:latin typeface="Telegraf Bold"/>
                  <a:ea typeface="Telegraf Bold"/>
                  <a:cs typeface="Telegraf Bold"/>
                  <a:sym typeface="Telegraf Bold"/>
                </a:rPr>
                <a:t>Đinh Ngọc Khuê</a:t>
              </a:r>
            </a:p>
          </p:txBody>
        </p:sp>
        <p:sp>
          <p:nvSpPr>
            <p:cNvPr name="TextBox 28" id="28"/>
            <p:cNvSpPr txBox="true"/>
            <p:nvPr/>
          </p:nvSpPr>
          <p:spPr>
            <a:xfrm rot="0">
              <a:off x="2806500" y="3780851"/>
              <a:ext cx="5691531" cy="928158"/>
            </a:xfrm>
            <a:prstGeom prst="rect">
              <a:avLst/>
            </a:prstGeom>
          </p:spPr>
          <p:txBody>
            <a:bodyPr anchor="t" rtlCol="false" tIns="0" lIns="0" bIns="0" rIns="0">
              <a:spAutoFit/>
            </a:bodyPr>
            <a:lstStyle/>
            <a:p>
              <a:pPr algn="l">
                <a:lnSpc>
                  <a:spcPts val="5599"/>
                </a:lnSpc>
                <a:spcBef>
                  <a:spcPct val="0"/>
                </a:spcBef>
              </a:pPr>
              <a:r>
                <a:rPr lang="en-US" b="true" sz="3999" spc="-179">
                  <a:solidFill>
                    <a:srgbClr val="FFFFFF"/>
                  </a:solidFill>
                  <a:latin typeface="Telegraf Bold"/>
                  <a:ea typeface="Telegraf Bold"/>
                  <a:cs typeface="Telegraf Bold"/>
                  <a:sym typeface="Telegraf Bold"/>
                </a:rPr>
                <a:t>Khổng Thị Hoà</a:t>
              </a:r>
            </a:p>
          </p:txBody>
        </p:sp>
        <p:sp>
          <p:nvSpPr>
            <p:cNvPr name="TextBox 29" id="29"/>
            <p:cNvSpPr txBox="true"/>
            <p:nvPr/>
          </p:nvSpPr>
          <p:spPr>
            <a:xfrm rot="0">
              <a:off x="2885305" y="2852156"/>
              <a:ext cx="5691531" cy="714375"/>
            </a:xfrm>
            <a:prstGeom prst="rect">
              <a:avLst/>
            </a:prstGeom>
          </p:spPr>
          <p:txBody>
            <a:bodyPr anchor="t" rtlCol="false" tIns="0" lIns="0" bIns="0" rIns="0">
              <a:spAutoFit/>
            </a:bodyPr>
            <a:lstStyle/>
            <a:p>
              <a:pPr algn="l">
                <a:lnSpc>
                  <a:spcPts val="4200"/>
                </a:lnSpc>
                <a:spcBef>
                  <a:spcPct val="0"/>
                </a:spcBef>
              </a:pPr>
              <a:r>
                <a:rPr lang="en-US" sz="3000" spc="-135">
                  <a:solidFill>
                    <a:srgbClr val="FFFFFF"/>
                  </a:solidFill>
                  <a:latin typeface="Telegraf"/>
                  <a:ea typeface="Telegraf"/>
                  <a:cs typeface="Telegraf"/>
                  <a:sym typeface="Telegraf"/>
                </a:rPr>
                <a:t>2321050065</a:t>
              </a:r>
            </a:p>
          </p:txBody>
        </p:sp>
        <p:sp>
          <p:nvSpPr>
            <p:cNvPr name="TextBox 30" id="30"/>
            <p:cNvSpPr txBox="true"/>
            <p:nvPr/>
          </p:nvSpPr>
          <p:spPr>
            <a:xfrm rot="0">
              <a:off x="2806500" y="4604235"/>
              <a:ext cx="5691531" cy="714375"/>
            </a:xfrm>
            <a:prstGeom prst="rect">
              <a:avLst/>
            </a:prstGeom>
          </p:spPr>
          <p:txBody>
            <a:bodyPr anchor="t" rtlCol="false" tIns="0" lIns="0" bIns="0" rIns="0">
              <a:spAutoFit/>
            </a:bodyPr>
            <a:lstStyle/>
            <a:p>
              <a:pPr algn="l">
                <a:lnSpc>
                  <a:spcPts val="4200"/>
                </a:lnSpc>
                <a:spcBef>
                  <a:spcPct val="0"/>
                </a:spcBef>
              </a:pPr>
              <a:r>
                <a:rPr lang="en-US" sz="3000" spc="-135">
                  <a:solidFill>
                    <a:srgbClr val="FFFFFF"/>
                  </a:solidFill>
                  <a:latin typeface="Telegraf"/>
                  <a:ea typeface="Telegraf"/>
                  <a:cs typeface="Telegraf"/>
                  <a:sym typeface="Telegraf"/>
                </a:rPr>
                <a:t>2321050043</a:t>
              </a:r>
            </a:p>
          </p:txBody>
        </p:sp>
        <p:sp>
          <p:nvSpPr>
            <p:cNvPr name="TextBox 31" id="31"/>
            <p:cNvSpPr txBox="true"/>
            <p:nvPr/>
          </p:nvSpPr>
          <p:spPr>
            <a:xfrm rot="0">
              <a:off x="2806500" y="5328782"/>
              <a:ext cx="5691531" cy="928158"/>
            </a:xfrm>
            <a:prstGeom prst="rect">
              <a:avLst/>
            </a:prstGeom>
          </p:spPr>
          <p:txBody>
            <a:bodyPr anchor="t" rtlCol="false" tIns="0" lIns="0" bIns="0" rIns="0">
              <a:spAutoFit/>
            </a:bodyPr>
            <a:lstStyle/>
            <a:p>
              <a:pPr algn="l">
                <a:lnSpc>
                  <a:spcPts val="5599"/>
                </a:lnSpc>
                <a:spcBef>
                  <a:spcPct val="0"/>
                </a:spcBef>
              </a:pPr>
              <a:r>
                <a:rPr lang="en-US" b="true" sz="3999" spc="-179">
                  <a:solidFill>
                    <a:srgbClr val="FFFFFF"/>
                  </a:solidFill>
                  <a:latin typeface="Telegraf Bold"/>
                  <a:ea typeface="Telegraf Bold"/>
                  <a:cs typeface="Telegraf Bold"/>
                  <a:sym typeface="Telegraf Bold"/>
                </a:rPr>
                <a:t>Phan Văn Huy </a:t>
              </a:r>
            </a:p>
          </p:txBody>
        </p:sp>
      </p:grpSp>
      <p:sp>
        <p:nvSpPr>
          <p:cNvPr name="TextBox 32" id="32"/>
          <p:cNvSpPr txBox="true"/>
          <p:nvPr/>
        </p:nvSpPr>
        <p:spPr>
          <a:xfrm rot="0">
            <a:off x="13807756" y="5986228"/>
            <a:ext cx="4268648" cy="561975"/>
          </a:xfrm>
          <a:prstGeom prst="rect">
            <a:avLst/>
          </a:prstGeom>
        </p:spPr>
        <p:txBody>
          <a:bodyPr anchor="t" rtlCol="false" tIns="0" lIns="0" bIns="0" rIns="0">
            <a:spAutoFit/>
          </a:bodyPr>
          <a:lstStyle/>
          <a:p>
            <a:pPr algn="l">
              <a:lnSpc>
                <a:spcPts val="4200"/>
              </a:lnSpc>
              <a:spcBef>
                <a:spcPct val="0"/>
              </a:spcBef>
            </a:pPr>
            <a:r>
              <a:rPr lang="en-US" sz="3000" spc="-135">
                <a:solidFill>
                  <a:srgbClr val="FFFFFF"/>
                </a:solidFill>
                <a:latin typeface="Telegraf"/>
                <a:ea typeface="Telegraf"/>
                <a:cs typeface="Telegraf"/>
                <a:sym typeface="Telegraf"/>
              </a:rPr>
              <a:t>2321050049</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00000">
                <a:alpha val="100000"/>
              </a:srgbClr>
            </a:gs>
            <a:gs pos="100000">
              <a:srgbClr val="09033D">
                <a:alpha val="100000"/>
              </a:srgbClr>
            </a:gs>
          </a:gsLst>
          <a:path path="circle">
            <a:fillToRect l="0" r="100000" t="0" b="100000"/>
          </a:path>
          <a:tileRect r="0" l="-100000" b="0" t="-100000"/>
        </a:gradFill>
      </p:bgPr>
    </p:bg>
    <p:spTree>
      <p:nvGrpSpPr>
        <p:cNvPr id="1" name=""/>
        <p:cNvGrpSpPr/>
        <p:nvPr/>
      </p:nvGrpSpPr>
      <p:grpSpPr>
        <a:xfrm>
          <a:off x="0" y="0"/>
          <a:ext cx="0" cy="0"/>
          <a:chOff x="0" y="0"/>
          <a:chExt cx="0" cy="0"/>
        </a:xfrm>
      </p:grpSpPr>
      <p:grpSp>
        <p:nvGrpSpPr>
          <p:cNvPr name="Group 2" id="2"/>
          <p:cNvGrpSpPr/>
          <p:nvPr/>
        </p:nvGrpSpPr>
        <p:grpSpPr>
          <a:xfrm rot="0">
            <a:off x="803986" y="519550"/>
            <a:ext cx="8641761" cy="9036957"/>
            <a:chOff x="0" y="0"/>
            <a:chExt cx="2276019" cy="2380104"/>
          </a:xfrm>
        </p:grpSpPr>
        <p:sp>
          <p:nvSpPr>
            <p:cNvPr name="Freeform 3" id="3"/>
            <p:cNvSpPr/>
            <p:nvPr/>
          </p:nvSpPr>
          <p:spPr>
            <a:xfrm flipH="false" flipV="false" rot="0">
              <a:off x="0" y="0"/>
              <a:ext cx="2276019" cy="2380104"/>
            </a:xfrm>
            <a:custGeom>
              <a:avLst/>
              <a:gdLst/>
              <a:ahLst/>
              <a:cxnLst/>
              <a:rect r="r" b="b" t="t" l="l"/>
              <a:pathLst>
                <a:path h="2380104" w="2276019">
                  <a:moveTo>
                    <a:pt x="50169" y="0"/>
                  </a:moveTo>
                  <a:lnTo>
                    <a:pt x="2225851" y="0"/>
                  </a:lnTo>
                  <a:cubicBezTo>
                    <a:pt x="2239156" y="0"/>
                    <a:pt x="2251917" y="5286"/>
                    <a:pt x="2261325" y="14694"/>
                  </a:cubicBezTo>
                  <a:cubicBezTo>
                    <a:pt x="2270734" y="24103"/>
                    <a:pt x="2276019" y="36863"/>
                    <a:pt x="2276019" y="50169"/>
                  </a:cubicBezTo>
                  <a:lnTo>
                    <a:pt x="2276019" y="2329935"/>
                  </a:lnTo>
                  <a:cubicBezTo>
                    <a:pt x="2276019" y="2357643"/>
                    <a:pt x="2253558" y="2380104"/>
                    <a:pt x="2225851" y="2380104"/>
                  </a:cubicBezTo>
                  <a:lnTo>
                    <a:pt x="50169" y="2380104"/>
                  </a:lnTo>
                  <a:cubicBezTo>
                    <a:pt x="36863" y="2380104"/>
                    <a:pt x="24103" y="2374818"/>
                    <a:pt x="14694" y="2365410"/>
                  </a:cubicBezTo>
                  <a:cubicBezTo>
                    <a:pt x="5286" y="2356001"/>
                    <a:pt x="0" y="2343241"/>
                    <a:pt x="0" y="2329935"/>
                  </a:cubicBezTo>
                  <a:lnTo>
                    <a:pt x="0" y="50169"/>
                  </a:lnTo>
                  <a:cubicBezTo>
                    <a:pt x="0" y="36863"/>
                    <a:pt x="5286" y="24103"/>
                    <a:pt x="14694" y="14694"/>
                  </a:cubicBezTo>
                  <a:cubicBezTo>
                    <a:pt x="24103" y="5286"/>
                    <a:pt x="36863" y="0"/>
                    <a:pt x="50169" y="0"/>
                  </a:cubicBezTo>
                  <a:close/>
                </a:path>
              </a:pathLst>
            </a:custGeom>
            <a:gradFill rotWithShape="true">
              <a:gsLst>
                <a:gs pos="0">
                  <a:srgbClr val="000000">
                    <a:alpha val="78000"/>
                  </a:srgbClr>
                </a:gs>
                <a:gs pos="100000">
                  <a:srgbClr val="DDDDDD">
                    <a:alpha val="14820"/>
                  </a:srgbClr>
                </a:gs>
              </a:gsLst>
              <a:path path="circle">
                <a:fillToRect l="0" r="100000" t="0" b="100000"/>
              </a:path>
              <a:tileRect r="0" l="-100000" b="0" t="-100000"/>
            </a:gradFill>
          </p:spPr>
        </p:sp>
        <p:sp>
          <p:nvSpPr>
            <p:cNvPr name="TextBox 4" id="4"/>
            <p:cNvSpPr txBox="true"/>
            <p:nvPr/>
          </p:nvSpPr>
          <p:spPr>
            <a:xfrm>
              <a:off x="0" y="-66675"/>
              <a:ext cx="2276019" cy="2446779"/>
            </a:xfrm>
            <a:prstGeom prst="rect">
              <a:avLst/>
            </a:prstGeom>
          </p:spPr>
          <p:txBody>
            <a:bodyPr anchor="ctr" rtlCol="false" tIns="50800" lIns="50800" bIns="50800" rIns="50800"/>
            <a:lstStyle/>
            <a:p>
              <a:pPr algn="ctr">
                <a:lnSpc>
                  <a:spcPts val="3151"/>
                </a:lnSpc>
              </a:pPr>
            </a:p>
          </p:txBody>
        </p:sp>
      </p:grpSp>
      <p:grpSp>
        <p:nvGrpSpPr>
          <p:cNvPr name="Group 5" id="5"/>
          <p:cNvGrpSpPr/>
          <p:nvPr/>
        </p:nvGrpSpPr>
        <p:grpSpPr>
          <a:xfrm rot="0">
            <a:off x="9964595" y="6162894"/>
            <a:ext cx="7524688" cy="3393613"/>
            <a:chOff x="0" y="0"/>
            <a:chExt cx="1981811" cy="893791"/>
          </a:xfrm>
        </p:grpSpPr>
        <p:sp>
          <p:nvSpPr>
            <p:cNvPr name="Freeform 6" id="6"/>
            <p:cNvSpPr/>
            <p:nvPr/>
          </p:nvSpPr>
          <p:spPr>
            <a:xfrm flipH="false" flipV="false" rot="0">
              <a:off x="0" y="0"/>
              <a:ext cx="1981811" cy="893791"/>
            </a:xfrm>
            <a:custGeom>
              <a:avLst/>
              <a:gdLst/>
              <a:ahLst/>
              <a:cxnLst/>
              <a:rect r="r" b="b" t="t" l="l"/>
              <a:pathLst>
                <a:path h="893791" w="1981811">
                  <a:moveTo>
                    <a:pt x="57617" y="0"/>
                  </a:moveTo>
                  <a:lnTo>
                    <a:pt x="1924194" y="0"/>
                  </a:lnTo>
                  <a:cubicBezTo>
                    <a:pt x="1939475" y="0"/>
                    <a:pt x="1954130" y="6070"/>
                    <a:pt x="1964935" y="16876"/>
                  </a:cubicBezTo>
                  <a:cubicBezTo>
                    <a:pt x="1975740" y="27681"/>
                    <a:pt x="1981811" y="42336"/>
                    <a:pt x="1981811" y="57617"/>
                  </a:cubicBezTo>
                  <a:lnTo>
                    <a:pt x="1981811" y="836174"/>
                  </a:lnTo>
                  <a:cubicBezTo>
                    <a:pt x="1981811" y="851455"/>
                    <a:pt x="1975740" y="866110"/>
                    <a:pt x="1964935" y="876916"/>
                  </a:cubicBezTo>
                  <a:cubicBezTo>
                    <a:pt x="1954130" y="887721"/>
                    <a:pt x="1939475" y="893791"/>
                    <a:pt x="1924194" y="893791"/>
                  </a:cubicBezTo>
                  <a:lnTo>
                    <a:pt x="57617" y="893791"/>
                  </a:lnTo>
                  <a:cubicBezTo>
                    <a:pt x="42336" y="893791"/>
                    <a:pt x="27681" y="887721"/>
                    <a:pt x="16876" y="876916"/>
                  </a:cubicBezTo>
                  <a:cubicBezTo>
                    <a:pt x="6070" y="866110"/>
                    <a:pt x="0" y="851455"/>
                    <a:pt x="0" y="836174"/>
                  </a:cubicBezTo>
                  <a:lnTo>
                    <a:pt x="0" y="57617"/>
                  </a:lnTo>
                  <a:cubicBezTo>
                    <a:pt x="0" y="42336"/>
                    <a:pt x="6070" y="27681"/>
                    <a:pt x="16876" y="16876"/>
                  </a:cubicBezTo>
                  <a:cubicBezTo>
                    <a:pt x="27681" y="6070"/>
                    <a:pt x="42336" y="0"/>
                    <a:pt x="57617" y="0"/>
                  </a:cubicBezTo>
                  <a:close/>
                </a:path>
              </a:pathLst>
            </a:custGeom>
            <a:gradFill rotWithShape="true">
              <a:gsLst>
                <a:gs pos="0">
                  <a:srgbClr val="000F9B">
                    <a:alpha val="100000"/>
                  </a:srgbClr>
                </a:gs>
                <a:gs pos="50000">
                  <a:srgbClr val="EB0000">
                    <a:alpha val="100000"/>
                  </a:srgbClr>
                </a:gs>
                <a:gs pos="100000">
                  <a:srgbClr val="A000EB">
                    <a:alpha val="100000"/>
                  </a:srgbClr>
                </a:gs>
              </a:gsLst>
              <a:path path="circle">
                <a:fillToRect l="0" r="100000" t="0" b="100000"/>
              </a:path>
              <a:tileRect r="0" l="-100000" b="0" t="-100000"/>
            </a:gradFill>
          </p:spPr>
        </p:sp>
        <p:sp>
          <p:nvSpPr>
            <p:cNvPr name="TextBox 7" id="7"/>
            <p:cNvSpPr txBox="true"/>
            <p:nvPr/>
          </p:nvSpPr>
          <p:spPr>
            <a:xfrm>
              <a:off x="0" y="-66675"/>
              <a:ext cx="1981811" cy="960466"/>
            </a:xfrm>
            <a:prstGeom prst="rect">
              <a:avLst/>
            </a:prstGeom>
          </p:spPr>
          <p:txBody>
            <a:bodyPr anchor="ctr" rtlCol="false" tIns="50800" lIns="50800" bIns="50800" rIns="50800"/>
            <a:lstStyle/>
            <a:p>
              <a:pPr algn="ctr">
                <a:lnSpc>
                  <a:spcPts val="3151"/>
                </a:lnSpc>
              </a:pPr>
            </a:p>
          </p:txBody>
        </p:sp>
      </p:grpSp>
      <p:grpSp>
        <p:nvGrpSpPr>
          <p:cNvPr name="Group 8" id="8"/>
          <p:cNvGrpSpPr/>
          <p:nvPr/>
        </p:nvGrpSpPr>
        <p:grpSpPr>
          <a:xfrm rot="0">
            <a:off x="10039352" y="552171"/>
            <a:ext cx="7524688" cy="4914137"/>
            <a:chOff x="0" y="0"/>
            <a:chExt cx="1165771" cy="761328"/>
          </a:xfrm>
        </p:grpSpPr>
        <p:sp>
          <p:nvSpPr>
            <p:cNvPr name="Freeform 9" id="9"/>
            <p:cNvSpPr/>
            <p:nvPr/>
          </p:nvSpPr>
          <p:spPr>
            <a:xfrm flipH="false" flipV="false" rot="0">
              <a:off x="0" y="0"/>
              <a:ext cx="1165771" cy="761328"/>
            </a:xfrm>
            <a:custGeom>
              <a:avLst/>
              <a:gdLst/>
              <a:ahLst/>
              <a:cxnLst/>
              <a:rect r="r" b="b" t="t" l="l"/>
              <a:pathLst>
                <a:path h="761328" w="1165771">
                  <a:moveTo>
                    <a:pt x="57617" y="0"/>
                  </a:moveTo>
                  <a:lnTo>
                    <a:pt x="1108154" y="0"/>
                  </a:lnTo>
                  <a:cubicBezTo>
                    <a:pt x="1123435" y="0"/>
                    <a:pt x="1138090" y="6070"/>
                    <a:pt x="1148896" y="16876"/>
                  </a:cubicBezTo>
                  <a:cubicBezTo>
                    <a:pt x="1159701" y="27681"/>
                    <a:pt x="1165771" y="42336"/>
                    <a:pt x="1165771" y="57617"/>
                  </a:cubicBezTo>
                  <a:lnTo>
                    <a:pt x="1165771" y="703712"/>
                  </a:lnTo>
                  <a:cubicBezTo>
                    <a:pt x="1165771" y="718993"/>
                    <a:pt x="1159701" y="733648"/>
                    <a:pt x="1148896" y="744453"/>
                  </a:cubicBezTo>
                  <a:cubicBezTo>
                    <a:pt x="1138090" y="755258"/>
                    <a:pt x="1123435" y="761328"/>
                    <a:pt x="1108154" y="761328"/>
                  </a:cubicBezTo>
                  <a:lnTo>
                    <a:pt x="57617" y="761328"/>
                  </a:lnTo>
                  <a:cubicBezTo>
                    <a:pt x="42336" y="761328"/>
                    <a:pt x="27681" y="755258"/>
                    <a:pt x="16876" y="744453"/>
                  </a:cubicBezTo>
                  <a:cubicBezTo>
                    <a:pt x="6070" y="733648"/>
                    <a:pt x="0" y="718993"/>
                    <a:pt x="0" y="703712"/>
                  </a:cubicBezTo>
                  <a:lnTo>
                    <a:pt x="0" y="57617"/>
                  </a:lnTo>
                  <a:cubicBezTo>
                    <a:pt x="0" y="42336"/>
                    <a:pt x="6070" y="27681"/>
                    <a:pt x="16876" y="16876"/>
                  </a:cubicBezTo>
                  <a:cubicBezTo>
                    <a:pt x="27681" y="6070"/>
                    <a:pt x="42336" y="0"/>
                    <a:pt x="57617" y="0"/>
                  </a:cubicBezTo>
                  <a:close/>
                </a:path>
              </a:pathLst>
            </a:custGeom>
            <a:blipFill>
              <a:blip r:embed="rId2"/>
              <a:stretch>
                <a:fillRect l="-3638" t="0" r="-3638" b="-9442"/>
              </a:stretch>
            </a:blipFill>
          </p:spPr>
        </p:sp>
      </p:grpSp>
      <p:sp>
        <p:nvSpPr>
          <p:cNvPr name="TextBox 10" id="10"/>
          <p:cNvSpPr txBox="true"/>
          <p:nvPr/>
        </p:nvSpPr>
        <p:spPr>
          <a:xfrm rot="0">
            <a:off x="1201270" y="3516850"/>
            <a:ext cx="7373734" cy="5699125"/>
          </a:xfrm>
          <a:prstGeom prst="rect">
            <a:avLst/>
          </a:prstGeom>
        </p:spPr>
        <p:txBody>
          <a:bodyPr anchor="t" rtlCol="false" tIns="0" lIns="0" bIns="0" rIns="0">
            <a:spAutoFit/>
          </a:bodyPr>
          <a:lstStyle/>
          <a:p>
            <a:pPr algn="just">
              <a:lnSpc>
                <a:spcPts val="3499"/>
              </a:lnSpc>
            </a:pPr>
            <a:r>
              <a:rPr lang="en-US" sz="2499">
                <a:solidFill>
                  <a:srgbClr val="FFFFFF"/>
                </a:solidFill>
                <a:latin typeface="Poppins"/>
                <a:ea typeface="Poppins"/>
                <a:cs typeface="Poppins"/>
                <a:sym typeface="Poppins"/>
              </a:rPr>
              <a:t>Với bối cảnh ngành điện ảnh là một cuộc chơi </a:t>
            </a:r>
            <a:r>
              <a:rPr lang="en-US" sz="2499" b="true">
                <a:solidFill>
                  <a:srgbClr val="FFFFFF"/>
                </a:solidFill>
                <a:latin typeface="Poppins Bold"/>
                <a:ea typeface="Poppins Bold"/>
                <a:cs typeface="Poppins Bold"/>
                <a:sym typeface="Poppins Bold"/>
              </a:rPr>
              <a:t>“Rủi ro cao - Lợi nhuận cao”, </a:t>
            </a:r>
            <a:r>
              <a:rPr lang="en-US" sz="2499">
                <a:solidFill>
                  <a:srgbClr val="FFFFFF"/>
                </a:solidFill>
                <a:latin typeface="Poppins"/>
                <a:ea typeface="Poppins"/>
                <a:cs typeface="Poppins"/>
                <a:sym typeface="Poppins"/>
              </a:rPr>
              <a:t>song song với đó là rất nhiều vấn đề mà nhà sản xuất/đầu tư cần phải đối mặt như:</a:t>
            </a:r>
          </a:p>
          <a:p>
            <a:pPr algn="just">
              <a:lnSpc>
                <a:spcPts val="3499"/>
              </a:lnSpc>
            </a:pPr>
          </a:p>
          <a:p>
            <a:pPr algn="just" marL="539749" indent="-269875" lvl="1">
              <a:lnSpc>
                <a:spcPts val="3499"/>
              </a:lnSpc>
              <a:buFont typeface="Arial"/>
              <a:buChar char="•"/>
            </a:pPr>
            <a:r>
              <a:rPr lang="en-US" sz="2499">
                <a:solidFill>
                  <a:srgbClr val="FFFFFF"/>
                </a:solidFill>
                <a:latin typeface="Poppins"/>
                <a:ea typeface="Poppins"/>
                <a:cs typeface="Poppins"/>
                <a:sym typeface="Poppins"/>
              </a:rPr>
              <a:t>Chi phí sản xuất phim ngày càng tăng (trung bình &gt;100 triệu USD cho phim bom tấn)</a:t>
            </a:r>
          </a:p>
          <a:p>
            <a:pPr algn="just" marL="539749" indent="-269875" lvl="1">
              <a:lnSpc>
                <a:spcPts val="3499"/>
              </a:lnSpc>
              <a:buFont typeface="Arial"/>
              <a:buChar char="•"/>
            </a:pPr>
            <a:r>
              <a:rPr lang="en-US" sz="2499">
                <a:solidFill>
                  <a:srgbClr val="FFFFFF"/>
                </a:solidFill>
                <a:latin typeface="Poppins"/>
                <a:ea typeface="Poppins"/>
                <a:cs typeface="Poppins"/>
                <a:sym typeface="Poppins"/>
              </a:rPr>
              <a:t>Các nhà đầu tư thường quyết định dựa trên cảm tính hoặc kinh nghiệm cá nhân, thiếu dữ liệu định lượng</a:t>
            </a:r>
          </a:p>
          <a:p>
            <a:pPr algn="just" marL="539749" indent="-269875" lvl="1">
              <a:lnSpc>
                <a:spcPts val="3499"/>
              </a:lnSpc>
              <a:buFont typeface="Arial"/>
              <a:buChar char="•"/>
            </a:pPr>
            <a:r>
              <a:rPr lang="en-US" sz="2499">
                <a:solidFill>
                  <a:srgbClr val="FFFFFF"/>
                </a:solidFill>
                <a:latin typeface="Poppins"/>
                <a:ea typeface="Poppins"/>
                <a:cs typeface="Poppins"/>
                <a:sym typeface="Poppins"/>
              </a:rPr>
              <a:t>Rất khó để biết phim có lời hay lỗ </a:t>
            </a:r>
            <a:r>
              <a:rPr lang="en-US" b="true" sz="2499">
                <a:solidFill>
                  <a:srgbClr val="FFFFFF"/>
                </a:solidFill>
                <a:latin typeface="Poppins Semi-Bold"/>
                <a:ea typeface="Poppins Semi-Bold"/>
                <a:cs typeface="Poppins Semi-Bold"/>
                <a:sym typeface="Poppins Semi-Bold"/>
              </a:rPr>
              <a:t>trước khi</a:t>
            </a:r>
            <a:r>
              <a:rPr lang="en-US" sz="2499">
                <a:solidFill>
                  <a:srgbClr val="FFFFFF"/>
                </a:solidFill>
                <a:latin typeface="Poppins"/>
                <a:ea typeface="Poppins"/>
                <a:cs typeface="Poppins"/>
                <a:sym typeface="Poppins"/>
              </a:rPr>
              <a:t> bấm máy</a:t>
            </a:r>
          </a:p>
        </p:txBody>
      </p:sp>
      <p:sp>
        <p:nvSpPr>
          <p:cNvPr name="TextBox 11" id="11"/>
          <p:cNvSpPr txBox="true"/>
          <p:nvPr/>
        </p:nvSpPr>
        <p:spPr>
          <a:xfrm rot="0">
            <a:off x="1126513" y="840137"/>
            <a:ext cx="7719401" cy="2169103"/>
          </a:xfrm>
          <a:prstGeom prst="rect">
            <a:avLst/>
          </a:prstGeom>
        </p:spPr>
        <p:txBody>
          <a:bodyPr anchor="t" rtlCol="false" tIns="0" lIns="0" bIns="0" rIns="0">
            <a:spAutoFit/>
          </a:bodyPr>
          <a:lstStyle/>
          <a:p>
            <a:pPr algn="l">
              <a:lnSpc>
                <a:spcPts val="8077"/>
              </a:lnSpc>
            </a:pPr>
            <a:r>
              <a:rPr lang="en-US" sz="7919" spc="-356" b="true">
                <a:solidFill>
                  <a:srgbClr val="FFFFFF"/>
                </a:solidFill>
                <a:latin typeface="Telegraf Bold"/>
                <a:ea typeface="Telegraf Bold"/>
                <a:cs typeface="Telegraf Bold"/>
                <a:sym typeface="Telegraf Bold"/>
              </a:rPr>
              <a:t>Tính Cấp Thiết Của Đề Tài</a:t>
            </a:r>
          </a:p>
        </p:txBody>
      </p:sp>
      <p:grpSp>
        <p:nvGrpSpPr>
          <p:cNvPr name="Group 12" id="12"/>
          <p:cNvGrpSpPr/>
          <p:nvPr/>
        </p:nvGrpSpPr>
        <p:grpSpPr>
          <a:xfrm rot="0">
            <a:off x="8304623" y="782987"/>
            <a:ext cx="839377" cy="245713"/>
            <a:chOff x="0" y="0"/>
            <a:chExt cx="1119170" cy="327618"/>
          </a:xfrm>
        </p:grpSpPr>
        <p:grpSp>
          <p:nvGrpSpPr>
            <p:cNvPr name="Group 13" id="13"/>
            <p:cNvGrpSpPr/>
            <p:nvPr/>
          </p:nvGrpSpPr>
          <p:grpSpPr>
            <a:xfrm rot="0">
              <a:off x="0" y="0"/>
              <a:ext cx="327618" cy="327618"/>
              <a:chOff x="0" y="0"/>
              <a:chExt cx="812800" cy="812800"/>
            </a:xfrm>
          </p:grpSpPr>
          <p:sp>
            <p:nvSpPr>
              <p:cNvPr name="Freeform 14" id="1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5757"/>
              </a:solidFill>
            </p:spPr>
          </p:sp>
          <p:sp>
            <p:nvSpPr>
              <p:cNvPr name="TextBox 15" id="15"/>
              <p:cNvSpPr txBox="true"/>
              <p:nvPr/>
            </p:nvSpPr>
            <p:spPr>
              <a:xfrm>
                <a:off x="76200" y="9525"/>
                <a:ext cx="660400" cy="727075"/>
              </a:xfrm>
              <a:prstGeom prst="rect">
                <a:avLst/>
              </a:prstGeom>
            </p:spPr>
            <p:txBody>
              <a:bodyPr anchor="ctr" rtlCol="false" tIns="56813" lIns="56813" bIns="56813" rIns="56813"/>
              <a:lstStyle/>
              <a:p>
                <a:pPr algn="ctr">
                  <a:lnSpc>
                    <a:spcPts val="3151"/>
                  </a:lnSpc>
                </a:pPr>
              </a:p>
            </p:txBody>
          </p:sp>
        </p:grpSp>
        <p:grpSp>
          <p:nvGrpSpPr>
            <p:cNvPr name="Group 16" id="16"/>
            <p:cNvGrpSpPr/>
            <p:nvPr/>
          </p:nvGrpSpPr>
          <p:grpSpPr>
            <a:xfrm rot="0">
              <a:off x="398109" y="0"/>
              <a:ext cx="327618" cy="327618"/>
              <a:chOff x="0" y="0"/>
              <a:chExt cx="812800" cy="812800"/>
            </a:xfrm>
          </p:grpSpPr>
          <p:sp>
            <p:nvSpPr>
              <p:cNvPr name="Freeform 17" id="1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DE59"/>
              </a:solidFill>
            </p:spPr>
          </p:sp>
          <p:sp>
            <p:nvSpPr>
              <p:cNvPr name="TextBox 18" id="18"/>
              <p:cNvSpPr txBox="true"/>
              <p:nvPr/>
            </p:nvSpPr>
            <p:spPr>
              <a:xfrm>
                <a:off x="76200" y="9525"/>
                <a:ext cx="660400" cy="727075"/>
              </a:xfrm>
              <a:prstGeom prst="rect">
                <a:avLst/>
              </a:prstGeom>
            </p:spPr>
            <p:txBody>
              <a:bodyPr anchor="ctr" rtlCol="false" tIns="56813" lIns="56813" bIns="56813" rIns="56813"/>
              <a:lstStyle/>
              <a:p>
                <a:pPr algn="ctr">
                  <a:lnSpc>
                    <a:spcPts val="3151"/>
                  </a:lnSpc>
                </a:pPr>
              </a:p>
            </p:txBody>
          </p:sp>
        </p:grpSp>
        <p:grpSp>
          <p:nvGrpSpPr>
            <p:cNvPr name="Group 19" id="19"/>
            <p:cNvGrpSpPr/>
            <p:nvPr/>
          </p:nvGrpSpPr>
          <p:grpSpPr>
            <a:xfrm rot="0">
              <a:off x="791552" y="0"/>
              <a:ext cx="327618" cy="327618"/>
              <a:chOff x="0" y="0"/>
              <a:chExt cx="812800" cy="812800"/>
            </a:xfrm>
          </p:grpSpPr>
          <p:sp>
            <p:nvSpPr>
              <p:cNvPr name="Freeform 20" id="20"/>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7ED957"/>
              </a:solidFill>
            </p:spPr>
          </p:sp>
          <p:sp>
            <p:nvSpPr>
              <p:cNvPr name="TextBox 21" id="21"/>
              <p:cNvSpPr txBox="true"/>
              <p:nvPr/>
            </p:nvSpPr>
            <p:spPr>
              <a:xfrm>
                <a:off x="76200" y="9525"/>
                <a:ext cx="660400" cy="727075"/>
              </a:xfrm>
              <a:prstGeom prst="rect">
                <a:avLst/>
              </a:prstGeom>
            </p:spPr>
            <p:txBody>
              <a:bodyPr anchor="ctr" rtlCol="false" tIns="56813" lIns="56813" bIns="56813" rIns="56813"/>
              <a:lstStyle/>
              <a:p>
                <a:pPr algn="ctr">
                  <a:lnSpc>
                    <a:spcPts val="3151"/>
                  </a:lnSpc>
                </a:pPr>
              </a:p>
            </p:txBody>
          </p:sp>
        </p:grpSp>
      </p:grpSp>
      <p:sp>
        <p:nvSpPr>
          <p:cNvPr name="TextBox 22" id="22"/>
          <p:cNvSpPr txBox="true"/>
          <p:nvPr/>
        </p:nvSpPr>
        <p:spPr>
          <a:xfrm rot="0">
            <a:off x="10186384" y="6649708"/>
            <a:ext cx="7377656" cy="4004395"/>
          </a:xfrm>
          <a:prstGeom prst="rect">
            <a:avLst/>
          </a:prstGeom>
        </p:spPr>
        <p:txBody>
          <a:bodyPr anchor="t" rtlCol="false" tIns="0" lIns="0" bIns="0" rIns="0">
            <a:spAutoFit/>
          </a:bodyPr>
          <a:lstStyle/>
          <a:p>
            <a:pPr algn="l">
              <a:lnSpc>
                <a:spcPts val="7021"/>
              </a:lnSpc>
            </a:pPr>
            <a:r>
              <a:rPr lang="en-US" sz="5319" spc="-239" b="true">
                <a:solidFill>
                  <a:srgbClr val="FFFFFF"/>
                </a:solidFill>
                <a:latin typeface="Telegraf Bold"/>
                <a:ea typeface="Telegraf Bold"/>
                <a:cs typeface="Telegraf Bold"/>
                <a:sym typeface="Telegraf Bold"/>
              </a:rPr>
              <a:t>Mục tiêu: Xây dựng mô hình dự đoán  ngay từ giai đoạn kịch bản </a:t>
            </a:r>
          </a:p>
          <a:p>
            <a:pPr algn="l">
              <a:lnSpc>
                <a:spcPts val="10453"/>
              </a:lnSpc>
            </a:pPr>
          </a:p>
        </p:txBody>
      </p:sp>
      <p:grpSp>
        <p:nvGrpSpPr>
          <p:cNvPr name="Group 23" id="23"/>
          <p:cNvGrpSpPr/>
          <p:nvPr/>
        </p:nvGrpSpPr>
        <p:grpSpPr>
          <a:xfrm rot="0">
            <a:off x="10186384" y="6399750"/>
            <a:ext cx="839377" cy="245713"/>
            <a:chOff x="0" y="0"/>
            <a:chExt cx="1119170" cy="327618"/>
          </a:xfrm>
        </p:grpSpPr>
        <p:grpSp>
          <p:nvGrpSpPr>
            <p:cNvPr name="Group 24" id="24"/>
            <p:cNvGrpSpPr/>
            <p:nvPr/>
          </p:nvGrpSpPr>
          <p:grpSpPr>
            <a:xfrm rot="0">
              <a:off x="0" y="0"/>
              <a:ext cx="327618" cy="327618"/>
              <a:chOff x="0" y="0"/>
              <a:chExt cx="812800" cy="812800"/>
            </a:xfrm>
          </p:grpSpPr>
          <p:sp>
            <p:nvSpPr>
              <p:cNvPr name="Freeform 25" id="25"/>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5757"/>
              </a:solidFill>
            </p:spPr>
          </p:sp>
          <p:sp>
            <p:nvSpPr>
              <p:cNvPr name="TextBox 26" id="26"/>
              <p:cNvSpPr txBox="true"/>
              <p:nvPr/>
            </p:nvSpPr>
            <p:spPr>
              <a:xfrm>
                <a:off x="76200" y="9525"/>
                <a:ext cx="660400" cy="727075"/>
              </a:xfrm>
              <a:prstGeom prst="rect">
                <a:avLst/>
              </a:prstGeom>
            </p:spPr>
            <p:txBody>
              <a:bodyPr anchor="ctr" rtlCol="false" tIns="56813" lIns="56813" bIns="56813" rIns="56813"/>
              <a:lstStyle/>
              <a:p>
                <a:pPr algn="ctr">
                  <a:lnSpc>
                    <a:spcPts val="3151"/>
                  </a:lnSpc>
                </a:pPr>
              </a:p>
            </p:txBody>
          </p:sp>
        </p:grpSp>
        <p:grpSp>
          <p:nvGrpSpPr>
            <p:cNvPr name="Group 27" id="27"/>
            <p:cNvGrpSpPr/>
            <p:nvPr/>
          </p:nvGrpSpPr>
          <p:grpSpPr>
            <a:xfrm rot="0">
              <a:off x="398109" y="0"/>
              <a:ext cx="327618" cy="327618"/>
              <a:chOff x="0" y="0"/>
              <a:chExt cx="812800" cy="812800"/>
            </a:xfrm>
          </p:grpSpPr>
          <p:sp>
            <p:nvSpPr>
              <p:cNvPr name="Freeform 28" id="28"/>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DE59"/>
              </a:solidFill>
            </p:spPr>
          </p:sp>
          <p:sp>
            <p:nvSpPr>
              <p:cNvPr name="TextBox 29" id="29"/>
              <p:cNvSpPr txBox="true"/>
              <p:nvPr/>
            </p:nvSpPr>
            <p:spPr>
              <a:xfrm>
                <a:off x="76200" y="9525"/>
                <a:ext cx="660400" cy="727075"/>
              </a:xfrm>
              <a:prstGeom prst="rect">
                <a:avLst/>
              </a:prstGeom>
            </p:spPr>
            <p:txBody>
              <a:bodyPr anchor="ctr" rtlCol="false" tIns="56813" lIns="56813" bIns="56813" rIns="56813"/>
              <a:lstStyle/>
              <a:p>
                <a:pPr algn="ctr">
                  <a:lnSpc>
                    <a:spcPts val="3151"/>
                  </a:lnSpc>
                </a:pPr>
              </a:p>
            </p:txBody>
          </p:sp>
        </p:grpSp>
        <p:grpSp>
          <p:nvGrpSpPr>
            <p:cNvPr name="Group 30" id="30"/>
            <p:cNvGrpSpPr/>
            <p:nvPr/>
          </p:nvGrpSpPr>
          <p:grpSpPr>
            <a:xfrm rot="0">
              <a:off x="791552" y="0"/>
              <a:ext cx="327618" cy="327618"/>
              <a:chOff x="0" y="0"/>
              <a:chExt cx="812800" cy="812800"/>
            </a:xfrm>
          </p:grpSpPr>
          <p:sp>
            <p:nvSpPr>
              <p:cNvPr name="Freeform 31" id="31"/>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7ED957"/>
              </a:solidFill>
            </p:spPr>
          </p:sp>
          <p:sp>
            <p:nvSpPr>
              <p:cNvPr name="TextBox 32" id="32"/>
              <p:cNvSpPr txBox="true"/>
              <p:nvPr/>
            </p:nvSpPr>
            <p:spPr>
              <a:xfrm>
                <a:off x="76200" y="9525"/>
                <a:ext cx="660400" cy="727075"/>
              </a:xfrm>
              <a:prstGeom prst="rect">
                <a:avLst/>
              </a:prstGeom>
            </p:spPr>
            <p:txBody>
              <a:bodyPr anchor="ctr" rtlCol="false" tIns="56813" lIns="56813" bIns="56813" rIns="56813"/>
              <a:lstStyle/>
              <a:p>
                <a:pPr algn="ctr">
                  <a:lnSpc>
                    <a:spcPts val="3151"/>
                  </a:lnSpc>
                </a:pPr>
              </a:p>
            </p:txBody>
          </p:sp>
        </p:grpSp>
      </p:grpSp>
    </p:spTree>
  </p:cSld>
  <p:clrMapOvr>
    <a:masterClrMapping/>
  </p:clrMapOvr>
</p:sld>
</file>

<file path=ppt/slides/slide3.xml><?xml version="1.0" encoding="utf-8"?>
<p:sld xmlns:p="http://schemas.openxmlformats.org/presentationml/2006/main" xmlns:a="http://schemas.openxmlformats.org/drawingml/2006/main">
  <p:cSld>
    <p:bg>
      <p:bgPr>
        <a:gradFill rotWithShape="true">
          <a:gsLst>
            <a:gs pos="0">
              <a:srgbClr val="000000">
                <a:alpha val="100000"/>
              </a:srgbClr>
            </a:gs>
            <a:gs pos="100000">
              <a:srgbClr val="09033D">
                <a:alpha val="100000"/>
              </a:srgbClr>
            </a:gs>
          </a:gsLst>
          <a:path path="circle">
            <a:fillToRect l="0" r="100000" t="0" b="100000"/>
          </a:path>
          <a:tileRect r="0" l="-100000" b="0" t="-100000"/>
        </a:gradFill>
      </p:bgPr>
    </p:bg>
    <p:spTree>
      <p:nvGrpSpPr>
        <p:cNvPr id="1" name=""/>
        <p:cNvGrpSpPr/>
        <p:nvPr/>
      </p:nvGrpSpPr>
      <p:grpSpPr>
        <a:xfrm>
          <a:off x="0" y="0"/>
          <a:ext cx="0" cy="0"/>
          <a:chOff x="0" y="0"/>
          <a:chExt cx="0" cy="0"/>
        </a:xfrm>
      </p:grpSpPr>
      <p:grpSp>
        <p:nvGrpSpPr>
          <p:cNvPr name="Group 2" id="2"/>
          <p:cNvGrpSpPr/>
          <p:nvPr/>
        </p:nvGrpSpPr>
        <p:grpSpPr>
          <a:xfrm rot="0">
            <a:off x="6700921" y="2328024"/>
            <a:ext cx="10876417" cy="7126210"/>
            <a:chOff x="0" y="0"/>
            <a:chExt cx="2864571" cy="1876862"/>
          </a:xfrm>
        </p:grpSpPr>
        <p:sp>
          <p:nvSpPr>
            <p:cNvPr name="Freeform 3" id="3"/>
            <p:cNvSpPr/>
            <p:nvPr/>
          </p:nvSpPr>
          <p:spPr>
            <a:xfrm flipH="false" flipV="false" rot="0">
              <a:off x="0" y="0"/>
              <a:ext cx="2864571" cy="1876862"/>
            </a:xfrm>
            <a:custGeom>
              <a:avLst/>
              <a:gdLst/>
              <a:ahLst/>
              <a:cxnLst/>
              <a:rect r="r" b="b" t="t" l="l"/>
              <a:pathLst>
                <a:path h="1876862" w="2864571">
                  <a:moveTo>
                    <a:pt x="39861" y="0"/>
                  </a:moveTo>
                  <a:lnTo>
                    <a:pt x="2824709" y="0"/>
                  </a:lnTo>
                  <a:cubicBezTo>
                    <a:pt x="2835281" y="0"/>
                    <a:pt x="2845420" y="4200"/>
                    <a:pt x="2852896" y="11675"/>
                  </a:cubicBezTo>
                  <a:cubicBezTo>
                    <a:pt x="2860371" y="19151"/>
                    <a:pt x="2864571" y="29289"/>
                    <a:pt x="2864571" y="39861"/>
                  </a:cubicBezTo>
                  <a:lnTo>
                    <a:pt x="2864571" y="1837000"/>
                  </a:lnTo>
                  <a:cubicBezTo>
                    <a:pt x="2864571" y="1859015"/>
                    <a:pt x="2846724" y="1876862"/>
                    <a:pt x="2824709" y="1876862"/>
                  </a:cubicBezTo>
                  <a:lnTo>
                    <a:pt x="39861" y="1876862"/>
                  </a:lnTo>
                  <a:cubicBezTo>
                    <a:pt x="29289" y="1876862"/>
                    <a:pt x="19151" y="1872662"/>
                    <a:pt x="11675" y="1865187"/>
                  </a:cubicBezTo>
                  <a:cubicBezTo>
                    <a:pt x="4200" y="1857711"/>
                    <a:pt x="0" y="1847572"/>
                    <a:pt x="0" y="1837000"/>
                  </a:cubicBezTo>
                  <a:lnTo>
                    <a:pt x="0" y="39861"/>
                  </a:lnTo>
                  <a:cubicBezTo>
                    <a:pt x="0" y="17846"/>
                    <a:pt x="17846" y="0"/>
                    <a:pt x="39861" y="0"/>
                  </a:cubicBezTo>
                  <a:close/>
                </a:path>
              </a:pathLst>
            </a:custGeom>
            <a:gradFill rotWithShape="true">
              <a:gsLst>
                <a:gs pos="0">
                  <a:srgbClr val="000000">
                    <a:alpha val="78000"/>
                  </a:srgbClr>
                </a:gs>
                <a:gs pos="50000">
                  <a:srgbClr val="DDDDDD">
                    <a:alpha val="14820"/>
                  </a:srgbClr>
                </a:gs>
                <a:gs pos="100000">
                  <a:srgbClr val="DDDDDD">
                    <a:alpha val="14820"/>
                  </a:srgbClr>
                </a:gs>
              </a:gsLst>
              <a:lin ang="2700000"/>
            </a:gradFill>
          </p:spPr>
        </p:sp>
        <p:sp>
          <p:nvSpPr>
            <p:cNvPr name="TextBox 4" id="4"/>
            <p:cNvSpPr txBox="true"/>
            <p:nvPr/>
          </p:nvSpPr>
          <p:spPr>
            <a:xfrm>
              <a:off x="0" y="-66675"/>
              <a:ext cx="2864571" cy="1943537"/>
            </a:xfrm>
            <a:prstGeom prst="rect">
              <a:avLst/>
            </a:prstGeom>
          </p:spPr>
          <p:txBody>
            <a:bodyPr anchor="ctr" rtlCol="false" tIns="50800" lIns="50800" bIns="50800" rIns="50800"/>
            <a:lstStyle/>
            <a:p>
              <a:pPr algn="ctr">
                <a:lnSpc>
                  <a:spcPts val="3151"/>
                </a:lnSpc>
              </a:pPr>
            </a:p>
          </p:txBody>
        </p:sp>
      </p:grpSp>
      <p:grpSp>
        <p:nvGrpSpPr>
          <p:cNvPr name="Group 5" id="5"/>
          <p:cNvGrpSpPr/>
          <p:nvPr/>
        </p:nvGrpSpPr>
        <p:grpSpPr>
          <a:xfrm rot="0">
            <a:off x="803986" y="1722868"/>
            <a:ext cx="5264882" cy="7731365"/>
            <a:chOff x="0" y="0"/>
            <a:chExt cx="1386636" cy="2036244"/>
          </a:xfrm>
        </p:grpSpPr>
        <p:sp>
          <p:nvSpPr>
            <p:cNvPr name="Freeform 6" id="6"/>
            <p:cNvSpPr/>
            <p:nvPr/>
          </p:nvSpPr>
          <p:spPr>
            <a:xfrm flipH="false" flipV="false" rot="0">
              <a:off x="0" y="0"/>
              <a:ext cx="1386636" cy="2036244"/>
            </a:xfrm>
            <a:custGeom>
              <a:avLst/>
              <a:gdLst/>
              <a:ahLst/>
              <a:cxnLst/>
              <a:rect r="r" b="b" t="t" l="l"/>
              <a:pathLst>
                <a:path h="2036244" w="1386636">
                  <a:moveTo>
                    <a:pt x="82347" y="0"/>
                  </a:moveTo>
                  <a:lnTo>
                    <a:pt x="1304289" y="0"/>
                  </a:lnTo>
                  <a:cubicBezTo>
                    <a:pt x="1349768" y="0"/>
                    <a:pt x="1386636" y="36868"/>
                    <a:pt x="1386636" y="82347"/>
                  </a:cubicBezTo>
                  <a:lnTo>
                    <a:pt x="1386636" y="1953897"/>
                  </a:lnTo>
                  <a:cubicBezTo>
                    <a:pt x="1386636" y="1975737"/>
                    <a:pt x="1377960" y="1996682"/>
                    <a:pt x="1362517" y="2012125"/>
                  </a:cubicBezTo>
                  <a:cubicBezTo>
                    <a:pt x="1347074" y="2027568"/>
                    <a:pt x="1326128" y="2036244"/>
                    <a:pt x="1304289" y="2036244"/>
                  </a:cubicBezTo>
                  <a:lnTo>
                    <a:pt x="82347" y="2036244"/>
                  </a:lnTo>
                  <a:cubicBezTo>
                    <a:pt x="60507" y="2036244"/>
                    <a:pt x="39562" y="2027568"/>
                    <a:pt x="24119" y="2012125"/>
                  </a:cubicBezTo>
                  <a:cubicBezTo>
                    <a:pt x="8676" y="1996682"/>
                    <a:pt x="0" y="1975737"/>
                    <a:pt x="0" y="1953897"/>
                  </a:cubicBezTo>
                  <a:lnTo>
                    <a:pt x="0" y="82347"/>
                  </a:lnTo>
                  <a:cubicBezTo>
                    <a:pt x="0" y="60507"/>
                    <a:pt x="8676" y="39562"/>
                    <a:pt x="24119" y="24119"/>
                  </a:cubicBezTo>
                  <a:cubicBezTo>
                    <a:pt x="39562" y="8676"/>
                    <a:pt x="60507" y="0"/>
                    <a:pt x="82347" y="0"/>
                  </a:cubicBezTo>
                  <a:close/>
                </a:path>
              </a:pathLst>
            </a:custGeom>
            <a:gradFill rotWithShape="true">
              <a:gsLst>
                <a:gs pos="0">
                  <a:srgbClr val="000F9B">
                    <a:alpha val="100000"/>
                  </a:srgbClr>
                </a:gs>
                <a:gs pos="50000">
                  <a:srgbClr val="EB0000">
                    <a:alpha val="100000"/>
                  </a:srgbClr>
                </a:gs>
                <a:gs pos="100000">
                  <a:srgbClr val="A000EB">
                    <a:alpha val="100000"/>
                  </a:srgbClr>
                </a:gs>
              </a:gsLst>
              <a:path path="circle">
                <a:fillToRect l="0" r="100000" t="0" b="100000"/>
              </a:path>
              <a:tileRect r="0" l="-100000" b="0" t="-100000"/>
            </a:gradFill>
          </p:spPr>
        </p:sp>
        <p:sp>
          <p:nvSpPr>
            <p:cNvPr name="TextBox 7" id="7"/>
            <p:cNvSpPr txBox="true"/>
            <p:nvPr/>
          </p:nvSpPr>
          <p:spPr>
            <a:xfrm>
              <a:off x="0" y="-66675"/>
              <a:ext cx="1386636" cy="2102919"/>
            </a:xfrm>
            <a:prstGeom prst="rect">
              <a:avLst/>
            </a:prstGeom>
          </p:spPr>
          <p:txBody>
            <a:bodyPr anchor="ctr" rtlCol="false" tIns="50800" lIns="50800" bIns="50800" rIns="50800"/>
            <a:lstStyle/>
            <a:p>
              <a:pPr algn="ctr">
                <a:lnSpc>
                  <a:spcPts val="3151"/>
                </a:lnSpc>
              </a:pPr>
            </a:p>
          </p:txBody>
        </p:sp>
      </p:grpSp>
      <p:sp>
        <p:nvSpPr>
          <p:cNvPr name="TextBox 8" id="8"/>
          <p:cNvSpPr txBox="true"/>
          <p:nvPr/>
        </p:nvSpPr>
        <p:spPr>
          <a:xfrm rot="0">
            <a:off x="7318755" y="3117440"/>
            <a:ext cx="9640749" cy="5502276"/>
          </a:xfrm>
          <a:prstGeom prst="rect">
            <a:avLst/>
          </a:prstGeom>
        </p:spPr>
        <p:txBody>
          <a:bodyPr anchor="t" rtlCol="false" tIns="0" lIns="0" bIns="0" rIns="0">
            <a:spAutoFit/>
          </a:bodyPr>
          <a:lstStyle/>
          <a:p>
            <a:pPr algn="just">
              <a:lnSpc>
                <a:spcPts val="7499"/>
              </a:lnSpc>
            </a:pPr>
            <a:r>
              <a:rPr lang="en-US" sz="2999" b="true">
                <a:solidFill>
                  <a:srgbClr val="FFFFFF"/>
                </a:solidFill>
                <a:latin typeface="Poppins Bold"/>
                <a:ea typeface="Poppins Bold"/>
                <a:cs typeface="Poppins Bold"/>
                <a:sym typeface="Poppins Bold"/>
              </a:rPr>
              <a:t>Các phương pháp hiện có:</a:t>
            </a:r>
          </a:p>
          <a:p>
            <a:pPr algn="just" marL="539749" indent="-269875" lvl="1">
              <a:lnSpc>
                <a:spcPts val="3499"/>
              </a:lnSpc>
              <a:buFont typeface="Arial"/>
              <a:buChar char="•"/>
            </a:pPr>
            <a:r>
              <a:rPr lang="en-US" sz="2499">
                <a:solidFill>
                  <a:srgbClr val="FFFFFF"/>
                </a:solidFill>
                <a:latin typeface="Poppins"/>
                <a:ea typeface="Poppins"/>
                <a:cs typeface="Poppins"/>
                <a:sym typeface="Poppins"/>
              </a:rPr>
              <a:t>S</a:t>
            </a:r>
            <a:r>
              <a:rPr lang="en-US" sz="2499">
                <a:solidFill>
                  <a:srgbClr val="FFFFFF"/>
                </a:solidFill>
                <a:latin typeface="Poppins"/>
                <a:ea typeface="Poppins"/>
                <a:cs typeface="Poppins"/>
                <a:sym typeface="Poppins"/>
              </a:rPr>
              <a:t>ocial Sentiment Analysis: Phân tích cảm xúc MXH </a:t>
            </a:r>
            <a:r>
              <a:rPr lang="en-US" sz="2499" i="true">
                <a:solidFill>
                  <a:srgbClr val="FFFFFF"/>
                </a:solidFill>
                <a:latin typeface="Poppins Italics"/>
                <a:ea typeface="Poppins Italics"/>
                <a:cs typeface="Poppins Italics"/>
                <a:sym typeface="Poppins Italics"/>
              </a:rPr>
              <a:t>(Nhược điểm: Cần có trailer/marketing trước).</a:t>
            </a:r>
          </a:p>
          <a:p>
            <a:pPr algn="just" marL="539749" indent="-269875" lvl="1">
              <a:lnSpc>
                <a:spcPts val="3499"/>
              </a:lnSpc>
              <a:buFont typeface="Arial"/>
              <a:buChar char="•"/>
            </a:pPr>
            <a:r>
              <a:rPr lang="en-US" sz="2499">
                <a:solidFill>
                  <a:srgbClr val="FFFFFF"/>
                </a:solidFill>
                <a:latin typeface="Poppins"/>
                <a:ea typeface="Poppins"/>
                <a:cs typeface="Poppins"/>
                <a:sym typeface="Poppins"/>
              </a:rPr>
              <a:t>Economic Models: Dựa trên lạm phát, kinh tế vĩ mô </a:t>
            </a:r>
            <a:r>
              <a:rPr lang="en-US" sz="2499" i="true">
                <a:solidFill>
                  <a:srgbClr val="FFFFFF"/>
                </a:solidFill>
                <a:latin typeface="Poppins Italics"/>
                <a:ea typeface="Poppins Italics"/>
                <a:cs typeface="Poppins Italics"/>
                <a:sym typeface="Poppins Italics"/>
              </a:rPr>
              <a:t>(Nhược điểm: Ít tập trung vào nội tại phim).</a:t>
            </a:r>
          </a:p>
          <a:p>
            <a:pPr algn="just">
              <a:lnSpc>
                <a:spcPts val="7499"/>
              </a:lnSpc>
            </a:pPr>
            <a:r>
              <a:rPr lang="en-US" sz="2999" b="true">
                <a:solidFill>
                  <a:srgbClr val="FFFFFF"/>
                </a:solidFill>
                <a:latin typeface="Poppins Bold"/>
                <a:ea typeface="Poppins Bold"/>
                <a:cs typeface="Poppins Bold"/>
                <a:sym typeface="Poppins Bold"/>
              </a:rPr>
              <a:t>Khoảng trống nghiên cứu (Research Gap):</a:t>
            </a:r>
          </a:p>
          <a:p>
            <a:pPr algn="just" marL="539749" indent="-269875" lvl="1">
              <a:lnSpc>
                <a:spcPts val="3499"/>
              </a:lnSpc>
              <a:buFont typeface="Arial"/>
              <a:buChar char="•"/>
            </a:pPr>
            <a:r>
              <a:rPr lang="en-US" sz="2499">
                <a:solidFill>
                  <a:srgbClr val="FFFFFF"/>
                </a:solidFill>
                <a:latin typeface="Poppins"/>
                <a:ea typeface="Poppins"/>
                <a:cs typeface="Poppins"/>
                <a:sym typeface="Poppins"/>
              </a:rPr>
              <a:t>Vấn đề Data Leakage trong các nghiên cứu cũ: Sử dụng biến tương lai (Vote Count, Popularity) để dự đoán quá khứ.</a:t>
            </a:r>
          </a:p>
          <a:p>
            <a:pPr algn="just">
              <a:lnSpc>
                <a:spcPts val="3499"/>
              </a:lnSpc>
            </a:pPr>
          </a:p>
        </p:txBody>
      </p:sp>
      <p:sp>
        <p:nvSpPr>
          <p:cNvPr name="TextBox 9" id="9"/>
          <p:cNvSpPr txBox="true"/>
          <p:nvPr/>
        </p:nvSpPr>
        <p:spPr>
          <a:xfrm rot="0">
            <a:off x="1113014" y="4515622"/>
            <a:ext cx="3984696" cy="4177451"/>
          </a:xfrm>
          <a:prstGeom prst="rect">
            <a:avLst/>
          </a:prstGeom>
        </p:spPr>
        <p:txBody>
          <a:bodyPr anchor="t" rtlCol="false" tIns="0" lIns="0" bIns="0" rIns="0">
            <a:spAutoFit/>
          </a:bodyPr>
          <a:lstStyle/>
          <a:p>
            <a:pPr algn="just">
              <a:lnSpc>
                <a:spcPts val="5542"/>
              </a:lnSpc>
            </a:pPr>
            <a:r>
              <a:rPr lang="en-US" sz="4904">
                <a:solidFill>
                  <a:srgbClr val="FFFFFF"/>
                </a:solidFill>
                <a:latin typeface="Open Sauce"/>
                <a:ea typeface="Open Sauce"/>
                <a:cs typeface="Open Sauce"/>
                <a:sym typeface="Open Sauce"/>
              </a:rPr>
              <a:t>Chỉ sử dụng thuộc tính có sẵn trước khi phát hành (Pre-release features)</a:t>
            </a:r>
          </a:p>
        </p:txBody>
      </p:sp>
      <p:sp>
        <p:nvSpPr>
          <p:cNvPr name="TextBox 10" id="10"/>
          <p:cNvSpPr txBox="true"/>
          <p:nvPr/>
        </p:nvSpPr>
        <p:spPr>
          <a:xfrm rot="0">
            <a:off x="6431118" y="827981"/>
            <a:ext cx="11416022" cy="1277499"/>
          </a:xfrm>
          <a:prstGeom prst="rect">
            <a:avLst/>
          </a:prstGeom>
        </p:spPr>
        <p:txBody>
          <a:bodyPr anchor="t" rtlCol="false" tIns="0" lIns="0" bIns="0" rIns="0">
            <a:spAutoFit/>
          </a:bodyPr>
          <a:lstStyle/>
          <a:p>
            <a:pPr algn="l">
              <a:lnSpc>
                <a:spcPts val="8976"/>
              </a:lnSpc>
            </a:pPr>
            <a:r>
              <a:rPr lang="en-US" sz="8800" spc="-396" b="true">
                <a:solidFill>
                  <a:srgbClr val="FFFFFF"/>
                </a:solidFill>
                <a:latin typeface="Telegraf Bold"/>
                <a:ea typeface="Telegraf Bold"/>
                <a:cs typeface="Telegraf Bold"/>
                <a:sym typeface="Telegraf Bold"/>
              </a:rPr>
              <a:t>Nghiên Cứu Liên Quan</a:t>
            </a:r>
          </a:p>
        </p:txBody>
      </p:sp>
      <p:sp>
        <p:nvSpPr>
          <p:cNvPr name="TextBox 11" id="11"/>
          <p:cNvSpPr txBox="true"/>
          <p:nvPr/>
        </p:nvSpPr>
        <p:spPr>
          <a:xfrm rot="0">
            <a:off x="1028700" y="2385174"/>
            <a:ext cx="4867825" cy="1277499"/>
          </a:xfrm>
          <a:prstGeom prst="rect">
            <a:avLst/>
          </a:prstGeom>
        </p:spPr>
        <p:txBody>
          <a:bodyPr anchor="t" rtlCol="false" tIns="0" lIns="0" bIns="0" rIns="0">
            <a:spAutoFit/>
          </a:bodyPr>
          <a:lstStyle/>
          <a:p>
            <a:pPr algn="l">
              <a:lnSpc>
                <a:spcPts val="8976"/>
              </a:lnSpc>
            </a:pPr>
            <a:r>
              <a:rPr lang="en-US" sz="8800" spc="-396" b="true">
                <a:solidFill>
                  <a:srgbClr val="FFFFFF"/>
                </a:solidFill>
                <a:latin typeface="Telegraf Bold"/>
                <a:ea typeface="Telegraf Bold"/>
                <a:cs typeface="Telegraf Bold"/>
                <a:sym typeface="Telegraf Bold"/>
              </a:rPr>
              <a:t>Giải Pháp</a:t>
            </a:r>
          </a:p>
        </p:txBody>
      </p:sp>
      <p:grpSp>
        <p:nvGrpSpPr>
          <p:cNvPr name="Group 12" id="12"/>
          <p:cNvGrpSpPr/>
          <p:nvPr/>
        </p:nvGrpSpPr>
        <p:grpSpPr>
          <a:xfrm rot="0">
            <a:off x="16539815" y="2577071"/>
            <a:ext cx="839377" cy="245713"/>
            <a:chOff x="0" y="0"/>
            <a:chExt cx="1119170" cy="327618"/>
          </a:xfrm>
        </p:grpSpPr>
        <p:grpSp>
          <p:nvGrpSpPr>
            <p:cNvPr name="Group 13" id="13"/>
            <p:cNvGrpSpPr/>
            <p:nvPr/>
          </p:nvGrpSpPr>
          <p:grpSpPr>
            <a:xfrm rot="0">
              <a:off x="0" y="0"/>
              <a:ext cx="327618" cy="327618"/>
              <a:chOff x="0" y="0"/>
              <a:chExt cx="812800" cy="812800"/>
            </a:xfrm>
          </p:grpSpPr>
          <p:sp>
            <p:nvSpPr>
              <p:cNvPr name="Freeform 14" id="1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5757"/>
              </a:solidFill>
            </p:spPr>
          </p:sp>
          <p:sp>
            <p:nvSpPr>
              <p:cNvPr name="TextBox 15" id="15"/>
              <p:cNvSpPr txBox="true"/>
              <p:nvPr/>
            </p:nvSpPr>
            <p:spPr>
              <a:xfrm>
                <a:off x="76200" y="9525"/>
                <a:ext cx="660400" cy="727075"/>
              </a:xfrm>
              <a:prstGeom prst="rect">
                <a:avLst/>
              </a:prstGeom>
            </p:spPr>
            <p:txBody>
              <a:bodyPr anchor="ctr" rtlCol="false" tIns="56813" lIns="56813" bIns="56813" rIns="56813"/>
              <a:lstStyle/>
              <a:p>
                <a:pPr algn="ctr">
                  <a:lnSpc>
                    <a:spcPts val="3151"/>
                  </a:lnSpc>
                </a:pPr>
              </a:p>
            </p:txBody>
          </p:sp>
        </p:grpSp>
        <p:grpSp>
          <p:nvGrpSpPr>
            <p:cNvPr name="Group 16" id="16"/>
            <p:cNvGrpSpPr/>
            <p:nvPr/>
          </p:nvGrpSpPr>
          <p:grpSpPr>
            <a:xfrm rot="0">
              <a:off x="398109" y="0"/>
              <a:ext cx="327618" cy="327618"/>
              <a:chOff x="0" y="0"/>
              <a:chExt cx="812800" cy="812800"/>
            </a:xfrm>
          </p:grpSpPr>
          <p:sp>
            <p:nvSpPr>
              <p:cNvPr name="Freeform 17" id="1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DE59"/>
              </a:solidFill>
            </p:spPr>
          </p:sp>
          <p:sp>
            <p:nvSpPr>
              <p:cNvPr name="TextBox 18" id="18"/>
              <p:cNvSpPr txBox="true"/>
              <p:nvPr/>
            </p:nvSpPr>
            <p:spPr>
              <a:xfrm>
                <a:off x="76200" y="9525"/>
                <a:ext cx="660400" cy="727075"/>
              </a:xfrm>
              <a:prstGeom prst="rect">
                <a:avLst/>
              </a:prstGeom>
            </p:spPr>
            <p:txBody>
              <a:bodyPr anchor="ctr" rtlCol="false" tIns="56813" lIns="56813" bIns="56813" rIns="56813"/>
              <a:lstStyle/>
              <a:p>
                <a:pPr algn="ctr">
                  <a:lnSpc>
                    <a:spcPts val="3151"/>
                  </a:lnSpc>
                </a:pPr>
              </a:p>
            </p:txBody>
          </p:sp>
        </p:grpSp>
        <p:grpSp>
          <p:nvGrpSpPr>
            <p:cNvPr name="Group 19" id="19"/>
            <p:cNvGrpSpPr/>
            <p:nvPr/>
          </p:nvGrpSpPr>
          <p:grpSpPr>
            <a:xfrm rot="0">
              <a:off x="791552" y="0"/>
              <a:ext cx="327618" cy="327618"/>
              <a:chOff x="0" y="0"/>
              <a:chExt cx="812800" cy="812800"/>
            </a:xfrm>
          </p:grpSpPr>
          <p:sp>
            <p:nvSpPr>
              <p:cNvPr name="Freeform 20" id="20"/>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7ED957"/>
              </a:solidFill>
            </p:spPr>
          </p:sp>
          <p:sp>
            <p:nvSpPr>
              <p:cNvPr name="TextBox 21" id="21"/>
              <p:cNvSpPr txBox="true"/>
              <p:nvPr/>
            </p:nvSpPr>
            <p:spPr>
              <a:xfrm>
                <a:off x="76200" y="9525"/>
                <a:ext cx="660400" cy="727075"/>
              </a:xfrm>
              <a:prstGeom prst="rect">
                <a:avLst/>
              </a:prstGeom>
            </p:spPr>
            <p:txBody>
              <a:bodyPr anchor="ctr" rtlCol="false" tIns="56813" lIns="56813" bIns="56813" rIns="56813"/>
              <a:lstStyle/>
              <a:p>
                <a:pPr algn="ctr">
                  <a:lnSpc>
                    <a:spcPts val="3151"/>
                  </a:lnSpc>
                </a:pPr>
              </a:p>
            </p:txBody>
          </p:sp>
        </p:grpSp>
      </p:grpSp>
    </p:spTree>
  </p:cSld>
  <p:clrMapOvr>
    <a:masterClrMapping/>
  </p:clrMapOvr>
</p:sld>
</file>

<file path=ppt/slides/slide4.xml><?xml version="1.0" encoding="utf-8"?>
<p:sld xmlns:p="http://schemas.openxmlformats.org/presentationml/2006/main" xmlns:a="http://schemas.openxmlformats.org/drawingml/2006/main">
  <p:cSld>
    <p:bg>
      <p:bgPr>
        <a:gradFill rotWithShape="true">
          <a:gsLst>
            <a:gs pos="0">
              <a:srgbClr val="000000">
                <a:alpha val="100000"/>
              </a:srgbClr>
            </a:gs>
            <a:gs pos="100000">
              <a:srgbClr val="09033D">
                <a:alpha val="100000"/>
              </a:srgbClr>
            </a:gs>
          </a:gsLst>
          <a:path path="circle">
            <a:fillToRect l="0" r="100000" t="0" b="100000"/>
          </a:path>
          <a:tileRect r="0" l="-100000" b="0" t="-100000"/>
        </a:gradFill>
      </p:bgPr>
    </p:bg>
    <p:spTree>
      <p:nvGrpSpPr>
        <p:cNvPr id="1" name=""/>
        <p:cNvGrpSpPr/>
        <p:nvPr/>
      </p:nvGrpSpPr>
      <p:grpSpPr>
        <a:xfrm>
          <a:off x="0" y="0"/>
          <a:ext cx="0" cy="0"/>
          <a:chOff x="0" y="0"/>
          <a:chExt cx="0" cy="0"/>
        </a:xfrm>
      </p:grpSpPr>
      <p:grpSp>
        <p:nvGrpSpPr>
          <p:cNvPr name="Group 2" id="2"/>
          <p:cNvGrpSpPr/>
          <p:nvPr/>
        </p:nvGrpSpPr>
        <p:grpSpPr>
          <a:xfrm rot="0">
            <a:off x="803986" y="8234980"/>
            <a:ext cx="16682906" cy="1233630"/>
            <a:chOff x="0" y="0"/>
            <a:chExt cx="4393852" cy="324907"/>
          </a:xfrm>
        </p:grpSpPr>
        <p:sp>
          <p:nvSpPr>
            <p:cNvPr name="Freeform 3" id="3"/>
            <p:cNvSpPr/>
            <p:nvPr/>
          </p:nvSpPr>
          <p:spPr>
            <a:xfrm flipH="false" flipV="false" rot="0">
              <a:off x="0" y="0"/>
              <a:ext cx="4393852" cy="324907"/>
            </a:xfrm>
            <a:custGeom>
              <a:avLst/>
              <a:gdLst/>
              <a:ahLst/>
              <a:cxnLst/>
              <a:rect r="r" b="b" t="t" l="l"/>
              <a:pathLst>
                <a:path h="324907" w="4393852">
                  <a:moveTo>
                    <a:pt x="21811" y="0"/>
                  </a:moveTo>
                  <a:lnTo>
                    <a:pt x="4372041" y="0"/>
                  </a:lnTo>
                  <a:cubicBezTo>
                    <a:pt x="4384087" y="0"/>
                    <a:pt x="4393852" y="9765"/>
                    <a:pt x="4393852" y="21811"/>
                  </a:cubicBezTo>
                  <a:lnTo>
                    <a:pt x="4393852" y="303096"/>
                  </a:lnTo>
                  <a:cubicBezTo>
                    <a:pt x="4393852" y="315142"/>
                    <a:pt x="4384087" y="324907"/>
                    <a:pt x="4372041" y="324907"/>
                  </a:cubicBezTo>
                  <a:lnTo>
                    <a:pt x="21811" y="324907"/>
                  </a:lnTo>
                  <a:cubicBezTo>
                    <a:pt x="9765" y="324907"/>
                    <a:pt x="0" y="315142"/>
                    <a:pt x="0" y="303096"/>
                  </a:cubicBezTo>
                  <a:lnTo>
                    <a:pt x="0" y="21811"/>
                  </a:lnTo>
                  <a:cubicBezTo>
                    <a:pt x="0" y="9765"/>
                    <a:pt x="9765" y="0"/>
                    <a:pt x="21811" y="0"/>
                  </a:cubicBezTo>
                  <a:close/>
                </a:path>
              </a:pathLst>
            </a:custGeom>
            <a:solidFill>
              <a:srgbClr val="000000">
                <a:alpha val="0"/>
              </a:srgbClr>
            </a:solidFill>
            <a:ln w="28575" cap="rnd">
              <a:solidFill>
                <a:srgbClr val="FFFFFF"/>
              </a:solidFill>
              <a:prstDash val="solid"/>
              <a:round/>
            </a:ln>
          </p:spPr>
        </p:sp>
        <p:sp>
          <p:nvSpPr>
            <p:cNvPr name="TextBox 4" id="4"/>
            <p:cNvSpPr txBox="true"/>
            <p:nvPr/>
          </p:nvSpPr>
          <p:spPr>
            <a:xfrm>
              <a:off x="0" y="-66675"/>
              <a:ext cx="4393852" cy="391582"/>
            </a:xfrm>
            <a:prstGeom prst="rect">
              <a:avLst/>
            </a:prstGeom>
          </p:spPr>
          <p:txBody>
            <a:bodyPr anchor="ctr" rtlCol="false" tIns="50800" lIns="50800" bIns="50800" rIns="50800"/>
            <a:lstStyle/>
            <a:p>
              <a:pPr algn="ctr">
                <a:lnSpc>
                  <a:spcPts val="3151"/>
                </a:lnSpc>
              </a:pPr>
            </a:p>
          </p:txBody>
        </p:sp>
      </p:grpSp>
      <p:grpSp>
        <p:nvGrpSpPr>
          <p:cNvPr name="Group 5" id="5"/>
          <p:cNvGrpSpPr/>
          <p:nvPr/>
        </p:nvGrpSpPr>
        <p:grpSpPr>
          <a:xfrm rot="0">
            <a:off x="803986" y="1790346"/>
            <a:ext cx="6064500" cy="5911234"/>
            <a:chOff x="0" y="0"/>
            <a:chExt cx="1597235" cy="1556868"/>
          </a:xfrm>
        </p:grpSpPr>
        <p:sp>
          <p:nvSpPr>
            <p:cNvPr name="Freeform 6" id="6"/>
            <p:cNvSpPr/>
            <p:nvPr/>
          </p:nvSpPr>
          <p:spPr>
            <a:xfrm flipH="false" flipV="false" rot="0">
              <a:off x="0" y="0"/>
              <a:ext cx="1597235" cy="1556868"/>
            </a:xfrm>
            <a:custGeom>
              <a:avLst/>
              <a:gdLst/>
              <a:ahLst/>
              <a:cxnLst/>
              <a:rect r="r" b="b" t="t" l="l"/>
              <a:pathLst>
                <a:path h="1556868" w="1597235">
                  <a:moveTo>
                    <a:pt x="71489" y="0"/>
                  </a:moveTo>
                  <a:lnTo>
                    <a:pt x="1525745" y="0"/>
                  </a:lnTo>
                  <a:cubicBezTo>
                    <a:pt x="1544705" y="0"/>
                    <a:pt x="1562889" y="7532"/>
                    <a:pt x="1576296" y="20939"/>
                  </a:cubicBezTo>
                  <a:cubicBezTo>
                    <a:pt x="1589703" y="34346"/>
                    <a:pt x="1597235" y="52529"/>
                    <a:pt x="1597235" y="71489"/>
                  </a:cubicBezTo>
                  <a:lnTo>
                    <a:pt x="1597235" y="1485379"/>
                  </a:lnTo>
                  <a:cubicBezTo>
                    <a:pt x="1597235" y="1524861"/>
                    <a:pt x="1565228" y="1556868"/>
                    <a:pt x="1525745" y="1556868"/>
                  </a:cubicBezTo>
                  <a:lnTo>
                    <a:pt x="71489" y="1556868"/>
                  </a:lnTo>
                  <a:cubicBezTo>
                    <a:pt x="52529" y="1556868"/>
                    <a:pt x="34346" y="1549336"/>
                    <a:pt x="20939" y="1535930"/>
                  </a:cubicBezTo>
                  <a:cubicBezTo>
                    <a:pt x="7532" y="1522523"/>
                    <a:pt x="0" y="1504339"/>
                    <a:pt x="0" y="1485379"/>
                  </a:cubicBezTo>
                  <a:lnTo>
                    <a:pt x="0" y="71489"/>
                  </a:lnTo>
                  <a:cubicBezTo>
                    <a:pt x="0" y="52529"/>
                    <a:pt x="7532" y="34346"/>
                    <a:pt x="20939" y="20939"/>
                  </a:cubicBezTo>
                  <a:cubicBezTo>
                    <a:pt x="34346" y="7532"/>
                    <a:pt x="52529" y="0"/>
                    <a:pt x="71489" y="0"/>
                  </a:cubicBezTo>
                  <a:close/>
                </a:path>
              </a:pathLst>
            </a:custGeom>
            <a:gradFill rotWithShape="true">
              <a:gsLst>
                <a:gs pos="0">
                  <a:srgbClr val="000000">
                    <a:alpha val="78000"/>
                  </a:srgbClr>
                </a:gs>
                <a:gs pos="100000">
                  <a:srgbClr val="DDDDDD">
                    <a:alpha val="14820"/>
                  </a:srgbClr>
                </a:gs>
              </a:gsLst>
              <a:lin ang="2700000"/>
            </a:gradFill>
          </p:spPr>
        </p:sp>
        <p:sp>
          <p:nvSpPr>
            <p:cNvPr name="TextBox 7" id="7"/>
            <p:cNvSpPr txBox="true"/>
            <p:nvPr/>
          </p:nvSpPr>
          <p:spPr>
            <a:xfrm>
              <a:off x="0" y="-66675"/>
              <a:ext cx="1597235" cy="1623543"/>
            </a:xfrm>
            <a:prstGeom prst="rect">
              <a:avLst/>
            </a:prstGeom>
          </p:spPr>
          <p:txBody>
            <a:bodyPr anchor="ctr" rtlCol="false" tIns="50800" lIns="50800" bIns="50800" rIns="50800"/>
            <a:lstStyle/>
            <a:p>
              <a:pPr algn="ctr">
                <a:lnSpc>
                  <a:spcPts val="3151"/>
                </a:lnSpc>
              </a:pPr>
            </a:p>
          </p:txBody>
        </p:sp>
      </p:grpSp>
      <p:grpSp>
        <p:nvGrpSpPr>
          <p:cNvPr name="Group 8" id="8"/>
          <p:cNvGrpSpPr/>
          <p:nvPr/>
        </p:nvGrpSpPr>
        <p:grpSpPr>
          <a:xfrm rot="0">
            <a:off x="5960150" y="1961444"/>
            <a:ext cx="187277" cy="245713"/>
            <a:chOff x="0" y="0"/>
            <a:chExt cx="619499" cy="812800"/>
          </a:xfrm>
        </p:grpSpPr>
        <p:sp>
          <p:nvSpPr>
            <p:cNvPr name="Freeform 9" id="9"/>
            <p:cNvSpPr/>
            <p:nvPr/>
          </p:nvSpPr>
          <p:spPr>
            <a:xfrm flipH="false" flipV="false" rot="0">
              <a:off x="0" y="0"/>
              <a:ext cx="619499" cy="812800"/>
            </a:xfrm>
            <a:custGeom>
              <a:avLst/>
              <a:gdLst/>
              <a:ahLst/>
              <a:cxnLst/>
              <a:rect r="r" b="b" t="t" l="l"/>
              <a:pathLst>
                <a:path h="812800" w="619499">
                  <a:moveTo>
                    <a:pt x="309749" y="0"/>
                  </a:moveTo>
                  <a:cubicBezTo>
                    <a:pt x="138679" y="0"/>
                    <a:pt x="0" y="181951"/>
                    <a:pt x="0" y="406400"/>
                  </a:cubicBezTo>
                  <a:cubicBezTo>
                    <a:pt x="0" y="630849"/>
                    <a:pt x="138679" y="812800"/>
                    <a:pt x="309749" y="812800"/>
                  </a:cubicBezTo>
                  <a:cubicBezTo>
                    <a:pt x="480819" y="812800"/>
                    <a:pt x="619499" y="630849"/>
                    <a:pt x="619499" y="406400"/>
                  </a:cubicBezTo>
                  <a:cubicBezTo>
                    <a:pt x="619499" y="181951"/>
                    <a:pt x="480819" y="0"/>
                    <a:pt x="309749" y="0"/>
                  </a:cubicBezTo>
                  <a:close/>
                </a:path>
              </a:pathLst>
            </a:custGeom>
            <a:solidFill>
              <a:srgbClr val="FF5757"/>
            </a:solidFill>
          </p:spPr>
        </p:sp>
        <p:sp>
          <p:nvSpPr>
            <p:cNvPr name="TextBox 10" id="10"/>
            <p:cNvSpPr txBox="true"/>
            <p:nvPr/>
          </p:nvSpPr>
          <p:spPr>
            <a:xfrm>
              <a:off x="58078" y="9525"/>
              <a:ext cx="503343" cy="727075"/>
            </a:xfrm>
            <a:prstGeom prst="rect">
              <a:avLst/>
            </a:prstGeom>
          </p:spPr>
          <p:txBody>
            <a:bodyPr anchor="ctr" rtlCol="false" tIns="87767" lIns="87767" bIns="87767" rIns="87767"/>
            <a:lstStyle/>
            <a:p>
              <a:pPr algn="ctr">
                <a:lnSpc>
                  <a:spcPts val="3151"/>
                </a:lnSpc>
              </a:pPr>
            </a:p>
          </p:txBody>
        </p:sp>
      </p:grpSp>
      <p:grpSp>
        <p:nvGrpSpPr>
          <p:cNvPr name="Group 11" id="11"/>
          <p:cNvGrpSpPr/>
          <p:nvPr/>
        </p:nvGrpSpPr>
        <p:grpSpPr>
          <a:xfrm rot="0">
            <a:off x="6187723" y="1961444"/>
            <a:ext cx="187277" cy="245713"/>
            <a:chOff x="0" y="0"/>
            <a:chExt cx="619499" cy="812800"/>
          </a:xfrm>
        </p:grpSpPr>
        <p:sp>
          <p:nvSpPr>
            <p:cNvPr name="Freeform 12" id="12"/>
            <p:cNvSpPr/>
            <p:nvPr/>
          </p:nvSpPr>
          <p:spPr>
            <a:xfrm flipH="false" flipV="false" rot="0">
              <a:off x="0" y="0"/>
              <a:ext cx="619499" cy="812800"/>
            </a:xfrm>
            <a:custGeom>
              <a:avLst/>
              <a:gdLst/>
              <a:ahLst/>
              <a:cxnLst/>
              <a:rect r="r" b="b" t="t" l="l"/>
              <a:pathLst>
                <a:path h="812800" w="619499">
                  <a:moveTo>
                    <a:pt x="309749" y="0"/>
                  </a:moveTo>
                  <a:cubicBezTo>
                    <a:pt x="138679" y="0"/>
                    <a:pt x="0" y="181951"/>
                    <a:pt x="0" y="406400"/>
                  </a:cubicBezTo>
                  <a:cubicBezTo>
                    <a:pt x="0" y="630849"/>
                    <a:pt x="138679" y="812800"/>
                    <a:pt x="309749" y="812800"/>
                  </a:cubicBezTo>
                  <a:cubicBezTo>
                    <a:pt x="480819" y="812800"/>
                    <a:pt x="619499" y="630849"/>
                    <a:pt x="619499" y="406400"/>
                  </a:cubicBezTo>
                  <a:cubicBezTo>
                    <a:pt x="619499" y="181951"/>
                    <a:pt x="480819" y="0"/>
                    <a:pt x="309749" y="0"/>
                  </a:cubicBezTo>
                  <a:close/>
                </a:path>
              </a:pathLst>
            </a:custGeom>
            <a:solidFill>
              <a:srgbClr val="FFDE59"/>
            </a:solidFill>
          </p:spPr>
        </p:sp>
        <p:sp>
          <p:nvSpPr>
            <p:cNvPr name="TextBox 13" id="13"/>
            <p:cNvSpPr txBox="true"/>
            <p:nvPr/>
          </p:nvSpPr>
          <p:spPr>
            <a:xfrm>
              <a:off x="58078" y="9525"/>
              <a:ext cx="503343" cy="727075"/>
            </a:xfrm>
            <a:prstGeom prst="rect">
              <a:avLst/>
            </a:prstGeom>
          </p:spPr>
          <p:txBody>
            <a:bodyPr anchor="ctr" rtlCol="false" tIns="87767" lIns="87767" bIns="87767" rIns="87767"/>
            <a:lstStyle/>
            <a:p>
              <a:pPr algn="ctr">
                <a:lnSpc>
                  <a:spcPts val="3151"/>
                </a:lnSpc>
              </a:pPr>
            </a:p>
          </p:txBody>
        </p:sp>
      </p:grpSp>
      <p:grpSp>
        <p:nvGrpSpPr>
          <p:cNvPr name="Group 14" id="14"/>
          <p:cNvGrpSpPr/>
          <p:nvPr/>
        </p:nvGrpSpPr>
        <p:grpSpPr>
          <a:xfrm rot="0">
            <a:off x="6412628" y="1961444"/>
            <a:ext cx="187277" cy="245713"/>
            <a:chOff x="0" y="0"/>
            <a:chExt cx="619499" cy="812800"/>
          </a:xfrm>
        </p:grpSpPr>
        <p:sp>
          <p:nvSpPr>
            <p:cNvPr name="Freeform 15" id="15"/>
            <p:cNvSpPr/>
            <p:nvPr/>
          </p:nvSpPr>
          <p:spPr>
            <a:xfrm flipH="false" flipV="false" rot="0">
              <a:off x="0" y="0"/>
              <a:ext cx="619499" cy="812800"/>
            </a:xfrm>
            <a:custGeom>
              <a:avLst/>
              <a:gdLst/>
              <a:ahLst/>
              <a:cxnLst/>
              <a:rect r="r" b="b" t="t" l="l"/>
              <a:pathLst>
                <a:path h="812800" w="619499">
                  <a:moveTo>
                    <a:pt x="309749" y="0"/>
                  </a:moveTo>
                  <a:cubicBezTo>
                    <a:pt x="138679" y="0"/>
                    <a:pt x="0" y="181951"/>
                    <a:pt x="0" y="406400"/>
                  </a:cubicBezTo>
                  <a:cubicBezTo>
                    <a:pt x="0" y="630849"/>
                    <a:pt x="138679" y="812800"/>
                    <a:pt x="309749" y="812800"/>
                  </a:cubicBezTo>
                  <a:cubicBezTo>
                    <a:pt x="480819" y="812800"/>
                    <a:pt x="619499" y="630849"/>
                    <a:pt x="619499" y="406400"/>
                  </a:cubicBezTo>
                  <a:cubicBezTo>
                    <a:pt x="619499" y="181951"/>
                    <a:pt x="480819" y="0"/>
                    <a:pt x="309749" y="0"/>
                  </a:cubicBezTo>
                  <a:close/>
                </a:path>
              </a:pathLst>
            </a:custGeom>
            <a:solidFill>
              <a:srgbClr val="7ED957"/>
            </a:solidFill>
          </p:spPr>
        </p:sp>
        <p:sp>
          <p:nvSpPr>
            <p:cNvPr name="TextBox 16" id="16"/>
            <p:cNvSpPr txBox="true"/>
            <p:nvPr/>
          </p:nvSpPr>
          <p:spPr>
            <a:xfrm>
              <a:off x="58078" y="9525"/>
              <a:ext cx="503343" cy="727075"/>
            </a:xfrm>
            <a:prstGeom prst="rect">
              <a:avLst/>
            </a:prstGeom>
          </p:spPr>
          <p:txBody>
            <a:bodyPr anchor="ctr" rtlCol="false" tIns="87767" lIns="87767" bIns="87767" rIns="87767"/>
            <a:lstStyle/>
            <a:p>
              <a:pPr algn="ctr">
                <a:lnSpc>
                  <a:spcPts val="3151"/>
                </a:lnSpc>
              </a:pPr>
            </a:p>
          </p:txBody>
        </p:sp>
      </p:grpSp>
      <p:sp>
        <p:nvSpPr>
          <p:cNvPr name="TextBox 17" id="17"/>
          <p:cNvSpPr txBox="true"/>
          <p:nvPr/>
        </p:nvSpPr>
        <p:spPr>
          <a:xfrm rot="0">
            <a:off x="1260352" y="2907826"/>
            <a:ext cx="4320610" cy="4347523"/>
          </a:xfrm>
          <a:prstGeom prst="rect">
            <a:avLst/>
          </a:prstGeom>
        </p:spPr>
        <p:txBody>
          <a:bodyPr anchor="t" rtlCol="false" tIns="0" lIns="0" bIns="0" rIns="0">
            <a:spAutoFit/>
          </a:bodyPr>
          <a:lstStyle/>
          <a:p>
            <a:pPr algn="just">
              <a:lnSpc>
                <a:spcPts val="8676"/>
              </a:lnSpc>
            </a:pPr>
            <a:r>
              <a:rPr lang="en-US" sz="6197" spc="-272">
                <a:solidFill>
                  <a:srgbClr val="FFFFFF"/>
                </a:solidFill>
                <a:latin typeface="Open Sauce"/>
                <a:ea typeface="Open Sauce"/>
                <a:cs typeface="Open Sauce"/>
                <a:sym typeface="Open Sauce"/>
              </a:rPr>
              <a:t>Python </a:t>
            </a:r>
          </a:p>
          <a:p>
            <a:pPr algn="just">
              <a:lnSpc>
                <a:spcPts val="8676"/>
              </a:lnSpc>
            </a:pPr>
            <a:r>
              <a:rPr lang="en-US" sz="6197" spc="-272">
                <a:solidFill>
                  <a:srgbClr val="FFFFFF"/>
                </a:solidFill>
                <a:latin typeface="Open Sauce"/>
                <a:ea typeface="Open Sauce"/>
                <a:cs typeface="Open Sauce"/>
                <a:sym typeface="Open Sauce"/>
              </a:rPr>
              <a:t>Flask</a:t>
            </a:r>
          </a:p>
          <a:p>
            <a:pPr algn="just">
              <a:lnSpc>
                <a:spcPts val="8676"/>
              </a:lnSpc>
            </a:pPr>
            <a:r>
              <a:rPr lang="en-US" sz="6197" spc="-272">
                <a:solidFill>
                  <a:srgbClr val="FFFFFF"/>
                </a:solidFill>
                <a:latin typeface="Open Sauce"/>
                <a:ea typeface="Open Sauce"/>
                <a:cs typeface="Open Sauce"/>
                <a:sym typeface="Open Sauce"/>
              </a:rPr>
              <a:t>Matplotlib</a:t>
            </a:r>
          </a:p>
          <a:p>
            <a:pPr algn="just">
              <a:lnSpc>
                <a:spcPts val="8676"/>
              </a:lnSpc>
            </a:pPr>
            <a:r>
              <a:rPr lang="en-US" sz="6197" spc="-272">
                <a:solidFill>
                  <a:srgbClr val="FFFFFF"/>
                </a:solidFill>
                <a:latin typeface="Open Sauce"/>
                <a:ea typeface="Open Sauce"/>
                <a:cs typeface="Open Sauce"/>
                <a:sym typeface="Open Sauce"/>
              </a:rPr>
              <a:t>Html &amp; Css</a:t>
            </a:r>
          </a:p>
        </p:txBody>
      </p:sp>
      <p:sp>
        <p:nvSpPr>
          <p:cNvPr name="TextBox 18" id="18"/>
          <p:cNvSpPr txBox="true"/>
          <p:nvPr/>
        </p:nvSpPr>
        <p:spPr>
          <a:xfrm rot="0">
            <a:off x="953913" y="8555033"/>
            <a:ext cx="16383051" cy="622100"/>
          </a:xfrm>
          <a:prstGeom prst="rect">
            <a:avLst/>
          </a:prstGeom>
        </p:spPr>
        <p:txBody>
          <a:bodyPr anchor="t" rtlCol="false" tIns="0" lIns="0" bIns="0" rIns="0">
            <a:spAutoFit/>
          </a:bodyPr>
          <a:lstStyle/>
          <a:p>
            <a:pPr algn="ctr">
              <a:lnSpc>
                <a:spcPts val="4382"/>
              </a:lnSpc>
            </a:pPr>
            <a:r>
              <a:rPr lang="en-US" b="true" sz="4296" spc="-193">
                <a:solidFill>
                  <a:srgbClr val="FFFFFF"/>
                </a:solidFill>
                <a:latin typeface="Telegraf Bold"/>
                <a:ea typeface="Telegraf Bold"/>
                <a:cs typeface="Telegraf Bold"/>
                <a:sym typeface="Telegraf Bold"/>
              </a:rPr>
              <a:t>Công Nghệ &amp; Phương Pháp Sử Dụng</a:t>
            </a:r>
          </a:p>
        </p:txBody>
      </p:sp>
      <p:grpSp>
        <p:nvGrpSpPr>
          <p:cNvPr name="Group 19" id="19"/>
          <p:cNvGrpSpPr/>
          <p:nvPr/>
        </p:nvGrpSpPr>
        <p:grpSpPr>
          <a:xfrm rot="0">
            <a:off x="7472692" y="1790346"/>
            <a:ext cx="10014200" cy="5911234"/>
            <a:chOff x="0" y="0"/>
            <a:chExt cx="2637485" cy="1556868"/>
          </a:xfrm>
        </p:grpSpPr>
        <p:sp>
          <p:nvSpPr>
            <p:cNvPr name="Freeform 20" id="20"/>
            <p:cNvSpPr/>
            <p:nvPr/>
          </p:nvSpPr>
          <p:spPr>
            <a:xfrm flipH="false" flipV="false" rot="0">
              <a:off x="0" y="0"/>
              <a:ext cx="2637485" cy="1556868"/>
            </a:xfrm>
            <a:custGeom>
              <a:avLst/>
              <a:gdLst/>
              <a:ahLst/>
              <a:cxnLst/>
              <a:rect r="r" b="b" t="t" l="l"/>
              <a:pathLst>
                <a:path h="1556868" w="2637485">
                  <a:moveTo>
                    <a:pt x="43293" y="0"/>
                  </a:moveTo>
                  <a:lnTo>
                    <a:pt x="2594192" y="0"/>
                  </a:lnTo>
                  <a:cubicBezTo>
                    <a:pt x="2618102" y="0"/>
                    <a:pt x="2637485" y="19383"/>
                    <a:pt x="2637485" y="43293"/>
                  </a:cubicBezTo>
                  <a:lnTo>
                    <a:pt x="2637485" y="1513575"/>
                  </a:lnTo>
                  <a:cubicBezTo>
                    <a:pt x="2637485" y="1525057"/>
                    <a:pt x="2632924" y="1536069"/>
                    <a:pt x="2624805" y="1544188"/>
                  </a:cubicBezTo>
                  <a:cubicBezTo>
                    <a:pt x="2616686" y="1552307"/>
                    <a:pt x="2605674" y="1556868"/>
                    <a:pt x="2594192" y="1556868"/>
                  </a:cubicBezTo>
                  <a:lnTo>
                    <a:pt x="43293" y="1556868"/>
                  </a:lnTo>
                  <a:cubicBezTo>
                    <a:pt x="31811" y="1556868"/>
                    <a:pt x="20799" y="1552307"/>
                    <a:pt x="12680" y="1544188"/>
                  </a:cubicBezTo>
                  <a:cubicBezTo>
                    <a:pt x="4561" y="1536069"/>
                    <a:pt x="0" y="1525057"/>
                    <a:pt x="0" y="1513575"/>
                  </a:cubicBezTo>
                  <a:lnTo>
                    <a:pt x="0" y="43293"/>
                  </a:lnTo>
                  <a:cubicBezTo>
                    <a:pt x="0" y="31811"/>
                    <a:pt x="4561" y="20799"/>
                    <a:pt x="12680" y="12680"/>
                  </a:cubicBezTo>
                  <a:cubicBezTo>
                    <a:pt x="20799" y="4561"/>
                    <a:pt x="31811" y="0"/>
                    <a:pt x="43293" y="0"/>
                  </a:cubicBezTo>
                  <a:close/>
                </a:path>
              </a:pathLst>
            </a:custGeom>
            <a:gradFill rotWithShape="true">
              <a:gsLst>
                <a:gs pos="0">
                  <a:srgbClr val="000000">
                    <a:alpha val="78000"/>
                  </a:srgbClr>
                </a:gs>
                <a:gs pos="100000">
                  <a:srgbClr val="DDDDDD">
                    <a:alpha val="14820"/>
                  </a:srgbClr>
                </a:gs>
              </a:gsLst>
              <a:lin ang="2700000"/>
            </a:gradFill>
          </p:spPr>
        </p:sp>
        <p:sp>
          <p:nvSpPr>
            <p:cNvPr name="TextBox 21" id="21"/>
            <p:cNvSpPr txBox="true"/>
            <p:nvPr/>
          </p:nvSpPr>
          <p:spPr>
            <a:xfrm>
              <a:off x="0" y="-66675"/>
              <a:ext cx="2637485" cy="1623543"/>
            </a:xfrm>
            <a:prstGeom prst="rect">
              <a:avLst/>
            </a:prstGeom>
          </p:spPr>
          <p:txBody>
            <a:bodyPr anchor="ctr" rtlCol="false" tIns="50800" lIns="50800" bIns="50800" rIns="50800"/>
            <a:lstStyle/>
            <a:p>
              <a:pPr algn="ctr">
                <a:lnSpc>
                  <a:spcPts val="3151"/>
                </a:lnSpc>
              </a:pPr>
            </a:p>
          </p:txBody>
        </p:sp>
      </p:grpSp>
      <p:sp>
        <p:nvSpPr>
          <p:cNvPr name="TextBox 22" id="22"/>
          <p:cNvSpPr txBox="true"/>
          <p:nvPr/>
        </p:nvSpPr>
        <p:spPr>
          <a:xfrm rot="0">
            <a:off x="-5557703" y="1990019"/>
            <a:ext cx="16383051" cy="622100"/>
          </a:xfrm>
          <a:prstGeom prst="rect">
            <a:avLst/>
          </a:prstGeom>
        </p:spPr>
        <p:txBody>
          <a:bodyPr anchor="t" rtlCol="false" tIns="0" lIns="0" bIns="0" rIns="0">
            <a:spAutoFit/>
          </a:bodyPr>
          <a:lstStyle/>
          <a:p>
            <a:pPr algn="ctr">
              <a:lnSpc>
                <a:spcPts val="4382"/>
              </a:lnSpc>
            </a:pPr>
            <a:r>
              <a:rPr lang="en-US" b="true" sz="4296" spc="-193">
                <a:solidFill>
                  <a:srgbClr val="FFFFFF"/>
                </a:solidFill>
                <a:latin typeface="Telegraf Bold"/>
                <a:ea typeface="Telegraf Bold"/>
                <a:cs typeface="Telegraf Bold"/>
                <a:sym typeface="Telegraf Bold"/>
              </a:rPr>
              <a:t>Công Nghệ </a:t>
            </a:r>
          </a:p>
        </p:txBody>
      </p:sp>
      <p:sp>
        <p:nvSpPr>
          <p:cNvPr name="TextBox 23" id="23"/>
          <p:cNvSpPr txBox="true"/>
          <p:nvPr/>
        </p:nvSpPr>
        <p:spPr>
          <a:xfrm rot="0">
            <a:off x="7739392" y="1990019"/>
            <a:ext cx="9956851" cy="622100"/>
          </a:xfrm>
          <a:prstGeom prst="rect">
            <a:avLst/>
          </a:prstGeom>
        </p:spPr>
        <p:txBody>
          <a:bodyPr anchor="t" rtlCol="false" tIns="0" lIns="0" bIns="0" rIns="0">
            <a:spAutoFit/>
          </a:bodyPr>
          <a:lstStyle/>
          <a:p>
            <a:pPr algn="l">
              <a:lnSpc>
                <a:spcPts val="4382"/>
              </a:lnSpc>
            </a:pPr>
            <a:r>
              <a:rPr lang="en-US" b="true" sz="4296" spc="-193">
                <a:solidFill>
                  <a:srgbClr val="FFFFFF"/>
                </a:solidFill>
                <a:latin typeface="Telegraf Bold"/>
                <a:ea typeface="Telegraf Bold"/>
                <a:cs typeface="Telegraf Bold"/>
                <a:sym typeface="Telegraf Bold"/>
              </a:rPr>
              <a:t>Phương Pháp </a:t>
            </a:r>
          </a:p>
        </p:txBody>
      </p:sp>
      <p:grpSp>
        <p:nvGrpSpPr>
          <p:cNvPr name="Group 24" id="24"/>
          <p:cNvGrpSpPr/>
          <p:nvPr/>
        </p:nvGrpSpPr>
        <p:grpSpPr>
          <a:xfrm rot="0">
            <a:off x="16419923" y="2041068"/>
            <a:ext cx="839377" cy="245713"/>
            <a:chOff x="0" y="0"/>
            <a:chExt cx="1119170" cy="327618"/>
          </a:xfrm>
        </p:grpSpPr>
        <p:grpSp>
          <p:nvGrpSpPr>
            <p:cNvPr name="Group 25" id="25"/>
            <p:cNvGrpSpPr/>
            <p:nvPr/>
          </p:nvGrpSpPr>
          <p:grpSpPr>
            <a:xfrm rot="0">
              <a:off x="0" y="0"/>
              <a:ext cx="327618" cy="327618"/>
              <a:chOff x="0" y="0"/>
              <a:chExt cx="812800" cy="812800"/>
            </a:xfrm>
          </p:grpSpPr>
          <p:sp>
            <p:nvSpPr>
              <p:cNvPr name="Freeform 26" id="2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5757"/>
              </a:solidFill>
            </p:spPr>
          </p:sp>
          <p:sp>
            <p:nvSpPr>
              <p:cNvPr name="TextBox 27" id="27"/>
              <p:cNvSpPr txBox="true"/>
              <p:nvPr/>
            </p:nvSpPr>
            <p:spPr>
              <a:xfrm>
                <a:off x="76200" y="9525"/>
                <a:ext cx="660400" cy="727075"/>
              </a:xfrm>
              <a:prstGeom prst="rect">
                <a:avLst/>
              </a:prstGeom>
            </p:spPr>
            <p:txBody>
              <a:bodyPr anchor="ctr" rtlCol="false" tIns="56813" lIns="56813" bIns="56813" rIns="56813"/>
              <a:lstStyle/>
              <a:p>
                <a:pPr algn="ctr">
                  <a:lnSpc>
                    <a:spcPts val="3151"/>
                  </a:lnSpc>
                </a:pPr>
              </a:p>
            </p:txBody>
          </p:sp>
        </p:grpSp>
        <p:grpSp>
          <p:nvGrpSpPr>
            <p:cNvPr name="Group 28" id="28"/>
            <p:cNvGrpSpPr/>
            <p:nvPr/>
          </p:nvGrpSpPr>
          <p:grpSpPr>
            <a:xfrm rot="0">
              <a:off x="398109" y="0"/>
              <a:ext cx="327618" cy="327618"/>
              <a:chOff x="0" y="0"/>
              <a:chExt cx="812800" cy="812800"/>
            </a:xfrm>
          </p:grpSpPr>
          <p:sp>
            <p:nvSpPr>
              <p:cNvPr name="Freeform 29" id="2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DE59"/>
              </a:solidFill>
            </p:spPr>
          </p:sp>
          <p:sp>
            <p:nvSpPr>
              <p:cNvPr name="TextBox 30" id="30"/>
              <p:cNvSpPr txBox="true"/>
              <p:nvPr/>
            </p:nvSpPr>
            <p:spPr>
              <a:xfrm>
                <a:off x="76200" y="9525"/>
                <a:ext cx="660400" cy="727075"/>
              </a:xfrm>
              <a:prstGeom prst="rect">
                <a:avLst/>
              </a:prstGeom>
            </p:spPr>
            <p:txBody>
              <a:bodyPr anchor="ctr" rtlCol="false" tIns="56813" lIns="56813" bIns="56813" rIns="56813"/>
              <a:lstStyle/>
              <a:p>
                <a:pPr algn="ctr">
                  <a:lnSpc>
                    <a:spcPts val="3151"/>
                  </a:lnSpc>
                </a:pPr>
              </a:p>
            </p:txBody>
          </p:sp>
        </p:grpSp>
        <p:grpSp>
          <p:nvGrpSpPr>
            <p:cNvPr name="Group 31" id="31"/>
            <p:cNvGrpSpPr/>
            <p:nvPr/>
          </p:nvGrpSpPr>
          <p:grpSpPr>
            <a:xfrm rot="0">
              <a:off x="791552" y="0"/>
              <a:ext cx="327618" cy="327618"/>
              <a:chOff x="0" y="0"/>
              <a:chExt cx="812800" cy="812800"/>
            </a:xfrm>
          </p:grpSpPr>
          <p:sp>
            <p:nvSpPr>
              <p:cNvPr name="Freeform 32" id="32"/>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7ED957"/>
              </a:solidFill>
            </p:spPr>
          </p:sp>
          <p:sp>
            <p:nvSpPr>
              <p:cNvPr name="TextBox 33" id="33"/>
              <p:cNvSpPr txBox="true"/>
              <p:nvPr/>
            </p:nvSpPr>
            <p:spPr>
              <a:xfrm>
                <a:off x="76200" y="9525"/>
                <a:ext cx="660400" cy="727075"/>
              </a:xfrm>
              <a:prstGeom prst="rect">
                <a:avLst/>
              </a:prstGeom>
            </p:spPr>
            <p:txBody>
              <a:bodyPr anchor="ctr" rtlCol="false" tIns="56813" lIns="56813" bIns="56813" rIns="56813"/>
              <a:lstStyle/>
              <a:p>
                <a:pPr algn="ctr">
                  <a:lnSpc>
                    <a:spcPts val="3151"/>
                  </a:lnSpc>
                </a:pPr>
              </a:p>
            </p:txBody>
          </p:sp>
        </p:grpSp>
      </p:grpSp>
      <p:sp>
        <p:nvSpPr>
          <p:cNvPr name="TextBox 34" id="34"/>
          <p:cNvSpPr txBox="true"/>
          <p:nvPr/>
        </p:nvSpPr>
        <p:spPr>
          <a:xfrm rot="0">
            <a:off x="7739392" y="2907826"/>
            <a:ext cx="9747500" cy="4347523"/>
          </a:xfrm>
          <a:prstGeom prst="rect">
            <a:avLst/>
          </a:prstGeom>
        </p:spPr>
        <p:txBody>
          <a:bodyPr anchor="t" rtlCol="false" tIns="0" lIns="0" bIns="0" rIns="0">
            <a:spAutoFit/>
          </a:bodyPr>
          <a:lstStyle/>
          <a:p>
            <a:pPr algn="just">
              <a:lnSpc>
                <a:spcPts val="8676"/>
              </a:lnSpc>
            </a:pPr>
            <a:r>
              <a:rPr lang="en-US" sz="6197" spc="-272">
                <a:solidFill>
                  <a:srgbClr val="FFFFFF"/>
                </a:solidFill>
                <a:latin typeface="Open Sauce"/>
                <a:ea typeface="Open Sauce"/>
                <a:cs typeface="Open Sauce"/>
                <a:sym typeface="Open Sauce"/>
              </a:rPr>
              <a:t>Random Forest</a:t>
            </a:r>
          </a:p>
          <a:p>
            <a:pPr algn="just">
              <a:lnSpc>
                <a:spcPts val="8676"/>
              </a:lnSpc>
            </a:pPr>
            <a:r>
              <a:rPr lang="en-US" sz="6197" spc="-272">
                <a:solidFill>
                  <a:srgbClr val="FFFFFF"/>
                </a:solidFill>
                <a:latin typeface="Open Sauce"/>
                <a:ea typeface="Open Sauce"/>
                <a:cs typeface="Open Sauce"/>
                <a:sym typeface="Open Sauce"/>
              </a:rPr>
              <a:t>Xử lý dữ liệu (Key): Loại bỏ biến "Post-release"</a:t>
            </a:r>
          </a:p>
          <a:p>
            <a:pPr algn="just">
              <a:lnSpc>
                <a:spcPts val="8676"/>
              </a:lnSpc>
            </a:pPr>
            <a:r>
              <a:rPr lang="en-US" sz="6197" spc="-272">
                <a:solidFill>
                  <a:srgbClr val="FFFFFF"/>
                </a:solidFill>
                <a:latin typeface="Open Sauce"/>
                <a:ea typeface="Open Sauce"/>
                <a:cs typeface="Open Sauce"/>
                <a:sym typeface="Open Sauce"/>
              </a:rPr>
              <a:t>Feature Engineering</a:t>
            </a:r>
          </a:p>
        </p:txBody>
      </p:sp>
    </p:spTree>
  </p:cSld>
  <p:clrMapOvr>
    <a:masterClrMapping/>
  </p:clrMapOvr>
</p:sld>
</file>

<file path=ppt/slides/slide5.xml><?xml version="1.0" encoding="utf-8"?>
<p:sld xmlns:p="http://schemas.openxmlformats.org/presentationml/2006/main" xmlns:a="http://schemas.openxmlformats.org/drawingml/2006/main">
  <p:cSld>
    <p:bg>
      <p:bgPr>
        <a:gradFill rotWithShape="true">
          <a:gsLst>
            <a:gs pos="0">
              <a:srgbClr val="000000">
                <a:alpha val="100000"/>
              </a:srgbClr>
            </a:gs>
            <a:gs pos="100000">
              <a:srgbClr val="09033D">
                <a:alpha val="100000"/>
              </a:srgbClr>
            </a:gs>
          </a:gsLst>
          <a:path path="circle">
            <a:fillToRect l="0" r="100000" t="0" b="100000"/>
          </a:path>
          <a:tileRect r="0" l="-100000" b="0" t="-100000"/>
        </a:gradFill>
      </p:bgPr>
    </p:bg>
    <p:spTree>
      <p:nvGrpSpPr>
        <p:cNvPr id="1" name=""/>
        <p:cNvGrpSpPr/>
        <p:nvPr/>
      </p:nvGrpSpPr>
      <p:grpSpPr>
        <a:xfrm>
          <a:off x="0" y="0"/>
          <a:ext cx="0" cy="0"/>
          <a:chOff x="0" y="0"/>
          <a:chExt cx="0" cy="0"/>
        </a:xfrm>
      </p:grpSpPr>
      <p:grpSp>
        <p:nvGrpSpPr>
          <p:cNvPr name="Group 2" id="2"/>
          <p:cNvGrpSpPr/>
          <p:nvPr/>
        </p:nvGrpSpPr>
        <p:grpSpPr>
          <a:xfrm rot="0">
            <a:off x="272771" y="335458"/>
            <a:ext cx="17695777" cy="9587924"/>
            <a:chOff x="0" y="0"/>
            <a:chExt cx="4660616" cy="2525215"/>
          </a:xfrm>
        </p:grpSpPr>
        <p:sp>
          <p:nvSpPr>
            <p:cNvPr name="Freeform 3" id="3"/>
            <p:cNvSpPr/>
            <p:nvPr/>
          </p:nvSpPr>
          <p:spPr>
            <a:xfrm flipH="false" flipV="false" rot="0">
              <a:off x="0" y="0"/>
              <a:ext cx="4660616" cy="2525215"/>
            </a:xfrm>
            <a:custGeom>
              <a:avLst/>
              <a:gdLst/>
              <a:ahLst/>
              <a:cxnLst/>
              <a:rect r="r" b="b" t="t" l="l"/>
              <a:pathLst>
                <a:path h="2525215" w="4660616">
                  <a:moveTo>
                    <a:pt x="24500" y="0"/>
                  </a:moveTo>
                  <a:lnTo>
                    <a:pt x="4636116" y="0"/>
                  </a:lnTo>
                  <a:cubicBezTo>
                    <a:pt x="4649647" y="0"/>
                    <a:pt x="4660616" y="10969"/>
                    <a:pt x="4660616" y="24500"/>
                  </a:cubicBezTo>
                  <a:lnTo>
                    <a:pt x="4660616" y="2500715"/>
                  </a:lnTo>
                  <a:cubicBezTo>
                    <a:pt x="4660616" y="2507212"/>
                    <a:pt x="4658035" y="2513444"/>
                    <a:pt x="4653440" y="2518039"/>
                  </a:cubicBezTo>
                  <a:cubicBezTo>
                    <a:pt x="4648846" y="2522633"/>
                    <a:pt x="4642614" y="2525215"/>
                    <a:pt x="4636116" y="2525215"/>
                  </a:cubicBezTo>
                  <a:lnTo>
                    <a:pt x="24500" y="2525215"/>
                  </a:lnTo>
                  <a:cubicBezTo>
                    <a:pt x="10969" y="2525215"/>
                    <a:pt x="0" y="2514246"/>
                    <a:pt x="0" y="2500715"/>
                  </a:cubicBezTo>
                  <a:lnTo>
                    <a:pt x="0" y="24500"/>
                  </a:lnTo>
                  <a:cubicBezTo>
                    <a:pt x="0" y="10969"/>
                    <a:pt x="10969" y="0"/>
                    <a:pt x="24500" y="0"/>
                  </a:cubicBezTo>
                  <a:close/>
                </a:path>
              </a:pathLst>
            </a:custGeom>
            <a:solidFill>
              <a:srgbClr val="FFFFFF">
                <a:alpha val="21961"/>
              </a:srgbClr>
            </a:solidFill>
          </p:spPr>
        </p:sp>
        <p:sp>
          <p:nvSpPr>
            <p:cNvPr name="TextBox 4" id="4"/>
            <p:cNvSpPr txBox="true"/>
            <p:nvPr/>
          </p:nvSpPr>
          <p:spPr>
            <a:xfrm>
              <a:off x="0" y="-38100"/>
              <a:ext cx="4660616" cy="2563315"/>
            </a:xfrm>
            <a:prstGeom prst="rect">
              <a:avLst/>
            </a:prstGeom>
          </p:spPr>
          <p:txBody>
            <a:bodyPr anchor="ctr" rtlCol="false" tIns="50800" lIns="50800" bIns="50800" rIns="50800"/>
            <a:lstStyle/>
            <a:p>
              <a:pPr algn="ctr">
                <a:lnSpc>
                  <a:spcPts val="2659"/>
                </a:lnSpc>
                <a:spcBef>
                  <a:spcPct val="0"/>
                </a:spcBef>
              </a:pPr>
              <a:r>
                <a:rPr lang="en-US" sz="1899">
                  <a:solidFill>
                    <a:srgbClr val="FFFFFF">
                      <a:alpha val="21961"/>
                    </a:srgbClr>
                  </a:solidFill>
                  <a:latin typeface="Canva Sans"/>
                  <a:ea typeface="Canva Sans"/>
                  <a:cs typeface="Canva Sans"/>
                  <a:sym typeface="Canva Sans"/>
                </a:rPr>
                <a:t>Dataset TMDB 5000 Movies.</a:t>
              </a:r>
            </a:p>
          </p:txBody>
        </p:sp>
      </p:grpSp>
      <p:grpSp>
        <p:nvGrpSpPr>
          <p:cNvPr name="Group 5" id="5"/>
          <p:cNvGrpSpPr/>
          <p:nvPr/>
        </p:nvGrpSpPr>
        <p:grpSpPr>
          <a:xfrm rot="0">
            <a:off x="803986" y="894878"/>
            <a:ext cx="16648096" cy="1832656"/>
            <a:chOff x="0" y="0"/>
            <a:chExt cx="4384684" cy="482675"/>
          </a:xfrm>
        </p:grpSpPr>
        <p:sp>
          <p:nvSpPr>
            <p:cNvPr name="Freeform 6" id="6"/>
            <p:cNvSpPr/>
            <p:nvPr/>
          </p:nvSpPr>
          <p:spPr>
            <a:xfrm flipH="false" flipV="false" rot="0">
              <a:off x="0" y="0"/>
              <a:ext cx="4384684" cy="482675"/>
            </a:xfrm>
            <a:custGeom>
              <a:avLst/>
              <a:gdLst/>
              <a:ahLst/>
              <a:cxnLst/>
              <a:rect r="r" b="b" t="t" l="l"/>
              <a:pathLst>
                <a:path h="482675" w="4384684">
                  <a:moveTo>
                    <a:pt x="26042" y="0"/>
                  </a:moveTo>
                  <a:lnTo>
                    <a:pt x="4358642" y="0"/>
                  </a:lnTo>
                  <a:cubicBezTo>
                    <a:pt x="4365548" y="0"/>
                    <a:pt x="4372172" y="2744"/>
                    <a:pt x="4377056" y="7627"/>
                  </a:cubicBezTo>
                  <a:cubicBezTo>
                    <a:pt x="4381940" y="12511"/>
                    <a:pt x="4384684" y="19135"/>
                    <a:pt x="4384684" y="26042"/>
                  </a:cubicBezTo>
                  <a:lnTo>
                    <a:pt x="4384684" y="456633"/>
                  </a:lnTo>
                  <a:cubicBezTo>
                    <a:pt x="4384684" y="463540"/>
                    <a:pt x="4381940" y="470164"/>
                    <a:pt x="4377056" y="475047"/>
                  </a:cubicBezTo>
                  <a:cubicBezTo>
                    <a:pt x="4372172" y="479931"/>
                    <a:pt x="4365548" y="482675"/>
                    <a:pt x="4358642" y="482675"/>
                  </a:cubicBezTo>
                  <a:lnTo>
                    <a:pt x="26042" y="482675"/>
                  </a:lnTo>
                  <a:cubicBezTo>
                    <a:pt x="19135" y="482675"/>
                    <a:pt x="12511" y="479931"/>
                    <a:pt x="7627" y="475047"/>
                  </a:cubicBezTo>
                  <a:cubicBezTo>
                    <a:pt x="2744" y="470164"/>
                    <a:pt x="0" y="463540"/>
                    <a:pt x="0" y="456633"/>
                  </a:cubicBezTo>
                  <a:lnTo>
                    <a:pt x="0" y="26042"/>
                  </a:lnTo>
                  <a:cubicBezTo>
                    <a:pt x="0" y="19135"/>
                    <a:pt x="2744" y="12511"/>
                    <a:pt x="7627" y="7627"/>
                  </a:cubicBezTo>
                  <a:cubicBezTo>
                    <a:pt x="12511" y="2744"/>
                    <a:pt x="19135" y="0"/>
                    <a:pt x="26042" y="0"/>
                  </a:cubicBezTo>
                  <a:close/>
                </a:path>
              </a:pathLst>
            </a:custGeom>
            <a:solidFill>
              <a:srgbClr val="FFFFFF">
                <a:alpha val="21961"/>
              </a:srgbClr>
            </a:solidFill>
          </p:spPr>
        </p:sp>
        <p:sp>
          <p:nvSpPr>
            <p:cNvPr name="TextBox 7" id="7"/>
            <p:cNvSpPr txBox="true"/>
            <p:nvPr/>
          </p:nvSpPr>
          <p:spPr>
            <a:xfrm>
              <a:off x="0" y="-38100"/>
              <a:ext cx="4384684" cy="520775"/>
            </a:xfrm>
            <a:prstGeom prst="rect">
              <a:avLst/>
            </a:prstGeom>
          </p:spPr>
          <p:txBody>
            <a:bodyPr anchor="ctr" rtlCol="false" tIns="50800" lIns="50800" bIns="50800" rIns="50800"/>
            <a:lstStyle/>
            <a:p>
              <a:pPr algn="ctr">
                <a:lnSpc>
                  <a:spcPts val="2659"/>
                </a:lnSpc>
                <a:spcBef>
                  <a:spcPct val="0"/>
                </a:spcBef>
              </a:pPr>
            </a:p>
          </p:txBody>
        </p:sp>
      </p:grpSp>
      <p:sp>
        <p:nvSpPr>
          <p:cNvPr name="TextBox 8" id="8"/>
          <p:cNvSpPr txBox="true"/>
          <p:nvPr/>
        </p:nvSpPr>
        <p:spPr>
          <a:xfrm rot="0">
            <a:off x="796611" y="1281426"/>
            <a:ext cx="16648096" cy="1107185"/>
          </a:xfrm>
          <a:prstGeom prst="rect">
            <a:avLst/>
          </a:prstGeom>
        </p:spPr>
        <p:txBody>
          <a:bodyPr anchor="t" rtlCol="false" tIns="0" lIns="0" bIns="0" rIns="0">
            <a:spAutoFit/>
          </a:bodyPr>
          <a:lstStyle/>
          <a:p>
            <a:pPr algn="ctr">
              <a:lnSpc>
                <a:spcPts val="7751"/>
              </a:lnSpc>
            </a:pPr>
            <a:r>
              <a:rPr lang="en-US" b="true" sz="7599" spc="-341">
                <a:solidFill>
                  <a:srgbClr val="FFFFFF"/>
                </a:solidFill>
                <a:latin typeface="Telegraf Bold"/>
                <a:ea typeface="Telegraf Bold"/>
                <a:cs typeface="Telegraf Bold"/>
                <a:sym typeface="Telegraf Bold"/>
              </a:rPr>
              <a:t>SƠ ĐỒ QUY TRÌNH THỰC HIỆN</a:t>
            </a:r>
          </a:p>
        </p:txBody>
      </p:sp>
      <p:grpSp>
        <p:nvGrpSpPr>
          <p:cNvPr name="Group 9" id="9"/>
          <p:cNvGrpSpPr/>
          <p:nvPr/>
        </p:nvGrpSpPr>
        <p:grpSpPr>
          <a:xfrm rot="0">
            <a:off x="609011" y="555168"/>
            <a:ext cx="839377" cy="245713"/>
            <a:chOff x="0" y="0"/>
            <a:chExt cx="1119170" cy="327618"/>
          </a:xfrm>
        </p:grpSpPr>
        <p:grpSp>
          <p:nvGrpSpPr>
            <p:cNvPr name="Group 10" id="10"/>
            <p:cNvGrpSpPr/>
            <p:nvPr/>
          </p:nvGrpSpPr>
          <p:grpSpPr>
            <a:xfrm rot="0">
              <a:off x="0" y="0"/>
              <a:ext cx="327618" cy="327618"/>
              <a:chOff x="0" y="0"/>
              <a:chExt cx="812800" cy="812800"/>
            </a:xfrm>
          </p:grpSpPr>
          <p:sp>
            <p:nvSpPr>
              <p:cNvPr name="Freeform 11" id="11"/>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5757"/>
              </a:solidFill>
            </p:spPr>
          </p:sp>
          <p:sp>
            <p:nvSpPr>
              <p:cNvPr name="TextBox 12" id="12"/>
              <p:cNvSpPr txBox="true"/>
              <p:nvPr/>
            </p:nvSpPr>
            <p:spPr>
              <a:xfrm>
                <a:off x="76200" y="9525"/>
                <a:ext cx="660400" cy="727075"/>
              </a:xfrm>
              <a:prstGeom prst="rect">
                <a:avLst/>
              </a:prstGeom>
            </p:spPr>
            <p:txBody>
              <a:bodyPr anchor="ctr" rtlCol="false" tIns="56813" lIns="56813" bIns="56813" rIns="56813"/>
              <a:lstStyle/>
              <a:p>
                <a:pPr algn="ctr">
                  <a:lnSpc>
                    <a:spcPts val="3151"/>
                  </a:lnSpc>
                </a:pPr>
              </a:p>
            </p:txBody>
          </p:sp>
        </p:grpSp>
        <p:grpSp>
          <p:nvGrpSpPr>
            <p:cNvPr name="Group 13" id="13"/>
            <p:cNvGrpSpPr/>
            <p:nvPr/>
          </p:nvGrpSpPr>
          <p:grpSpPr>
            <a:xfrm rot="0">
              <a:off x="398109" y="0"/>
              <a:ext cx="327618" cy="327618"/>
              <a:chOff x="0" y="0"/>
              <a:chExt cx="812800" cy="812800"/>
            </a:xfrm>
          </p:grpSpPr>
          <p:sp>
            <p:nvSpPr>
              <p:cNvPr name="Freeform 14" id="1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DE59"/>
              </a:solidFill>
            </p:spPr>
          </p:sp>
          <p:sp>
            <p:nvSpPr>
              <p:cNvPr name="TextBox 15" id="15"/>
              <p:cNvSpPr txBox="true"/>
              <p:nvPr/>
            </p:nvSpPr>
            <p:spPr>
              <a:xfrm>
                <a:off x="76200" y="9525"/>
                <a:ext cx="660400" cy="727075"/>
              </a:xfrm>
              <a:prstGeom prst="rect">
                <a:avLst/>
              </a:prstGeom>
            </p:spPr>
            <p:txBody>
              <a:bodyPr anchor="ctr" rtlCol="false" tIns="56813" lIns="56813" bIns="56813" rIns="56813"/>
              <a:lstStyle/>
              <a:p>
                <a:pPr algn="ctr">
                  <a:lnSpc>
                    <a:spcPts val="3151"/>
                  </a:lnSpc>
                </a:pPr>
              </a:p>
            </p:txBody>
          </p:sp>
        </p:grpSp>
        <p:grpSp>
          <p:nvGrpSpPr>
            <p:cNvPr name="Group 16" id="16"/>
            <p:cNvGrpSpPr/>
            <p:nvPr/>
          </p:nvGrpSpPr>
          <p:grpSpPr>
            <a:xfrm rot="0">
              <a:off x="791552" y="0"/>
              <a:ext cx="327618" cy="327618"/>
              <a:chOff x="0" y="0"/>
              <a:chExt cx="812800" cy="812800"/>
            </a:xfrm>
          </p:grpSpPr>
          <p:sp>
            <p:nvSpPr>
              <p:cNvPr name="Freeform 17" id="1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7ED957"/>
              </a:solidFill>
            </p:spPr>
          </p:sp>
          <p:sp>
            <p:nvSpPr>
              <p:cNvPr name="TextBox 18" id="18"/>
              <p:cNvSpPr txBox="true"/>
              <p:nvPr/>
            </p:nvSpPr>
            <p:spPr>
              <a:xfrm>
                <a:off x="76200" y="9525"/>
                <a:ext cx="660400" cy="727075"/>
              </a:xfrm>
              <a:prstGeom prst="rect">
                <a:avLst/>
              </a:prstGeom>
            </p:spPr>
            <p:txBody>
              <a:bodyPr anchor="ctr" rtlCol="false" tIns="56813" lIns="56813" bIns="56813" rIns="56813"/>
              <a:lstStyle/>
              <a:p>
                <a:pPr algn="ctr">
                  <a:lnSpc>
                    <a:spcPts val="3151"/>
                  </a:lnSpc>
                </a:pPr>
              </a:p>
            </p:txBody>
          </p:sp>
        </p:grpSp>
      </p:grpSp>
      <p:grpSp>
        <p:nvGrpSpPr>
          <p:cNvPr name="Group 19" id="19"/>
          <p:cNvGrpSpPr/>
          <p:nvPr/>
        </p:nvGrpSpPr>
        <p:grpSpPr>
          <a:xfrm rot="0">
            <a:off x="469270" y="2633032"/>
            <a:ext cx="16790030" cy="3823285"/>
            <a:chOff x="0" y="0"/>
            <a:chExt cx="22386706" cy="5097714"/>
          </a:xfrm>
        </p:grpSpPr>
        <p:grpSp>
          <p:nvGrpSpPr>
            <p:cNvPr name="Group 20" id="20"/>
            <p:cNvGrpSpPr/>
            <p:nvPr/>
          </p:nvGrpSpPr>
          <p:grpSpPr>
            <a:xfrm rot="0">
              <a:off x="712129" y="1139638"/>
              <a:ext cx="3909461" cy="3958076"/>
              <a:chOff x="0" y="0"/>
              <a:chExt cx="772239" cy="781842"/>
            </a:xfrm>
          </p:grpSpPr>
          <p:sp>
            <p:nvSpPr>
              <p:cNvPr name="Freeform 21" id="21"/>
              <p:cNvSpPr/>
              <p:nvPr/>
            </p:nvSpPr>
            <p:spPr>
              <a:xfrm flipH="false" flipV="false" rot="0">
                <a:off x="0" y="0"/>
                <a:ext cx="772239" cy="781842"/>
              </a:xfrm>
              <a:custGeom>
                <a:avLst/>
                <a:gdLst/>
                <a:ahLst/>
                <a:cxnLst/>
                <a:rect r="r" b="b" t="t" l="l"/>
                <a:pathLst>
                  <a:path h="781842" w="772239">
                    <a:moveTo>
                      <a:pt x="147863" y="0"/>
                    </a:moveTo>
                    <a:lnTo>
                      <a:pt x="624377" y="0"/>
                    </a:lnTo>
                    <a:cubicBezTo>
                      <a:pt x="663592" y="0"/>
                      <a:pt x="701202" y="15578"/>
                      <a:pt x="728931" y="43308"/>
                    </a:cubicBezTo>
                    <a:cubicBezTo>
                      <a:pt x="756661" y="71038"/>
                      <a:pt x="772239" y="108647"/>
                      <a:pt x="772239" y="147863"/>
                    </a:cubicBezTo>
                    <a:lnTo>
                      <a:pt x="772239" y="633980"/>
                    </a:lnTo>
                    <a:cubicBezTo>
                      <a:pt x="772239" y="715642"/>
                      <a:pt x="706039" y="781842"/>
                      <a:pt x="624377" y="781842"/>
                    </a:cubicBezTo>
                    <a:lnTo>
                      <a:pt x="147863" y="781842"/>
                    </a:lnTo>
                    <a:cubicBezTo>
                      <a:pt x="66200" y="781842"/>
                      <a:pt x="0" y="715642"/>
                      <a:pt x="0" y="633980"/>
                    </a:cubicBezTo>
                    <a:lnTo>
                      <a:pt x="0" y="147863"/>
                    </a:lnTo>
                    <a:cubicBezTo>
                      <a:pt x="0" y="66200"/>
                      <a:pt x="66200" y="0"/>
                      <a:pt x="147863" y="0"/>
                    </a:cubicBezTo>
                    <a:close/>
                  </a:path>
                </a:pathLst>
              </a:custGeom>
              <a:solidFill>
                <a:srgbClr val="FFFFFF">
                  <a:alpha val="21961"/>
                </a:srgbClr>
              </a:solidFill>
            </p:spPr>
          </p:sp>
          <p:sp>
            <p:nvSpPr>
              <p:cNvPr name="TextBox 22" id="22"/>
              <p:cNvSpPr txBox="true"/>
              <p:nvPr/>
            </p:nvSpPr>
            <p:spPr>
              <a:xfrm>
                <a:off x="0" y="-38100"/>
                <a:ext cx="772239" cy="819942"/>
              </a:xfrm>
              <a:prstGeom prst="rect">
                <a:avLst/>
              </a:prstGeom>
            </p:spPr>
            <p:txBody>
              <a:bodyPr anchor="ctr" rtlCol="false" tIns="50800" lIns="50800" bIns="50800" rIns="50800"/>
              <a:lstStyle/>
              <a:p>
                <a:pPr algn="ctr">
                  <a:lnSpc>
                    <a:spcPts val="2659"/>
                  </a:lnSpc>
                  <a:spcBef>
                    <a:spcPct val="0"/>
                  </a:spcBef>
                </a:pPr>
              </a:p>
            </p:txBody>
          </p:sp>
        </p:grpSp>
        <p:grpSp>
          <p:nvGrpSpPr>
            <p:cNvPr name="Group 23" id="23"/>
            <p:cNvGrpSpPr/>
            <p:nvPr/>
          </p:nvGrpSpPr>
          <p:grpSpPr>
            <a:xfrm rot="0">
              <a:off x="5148663" y="1139638"/>
              <a:ext cx="3909461" cy="3958076"/>
              <a:chOff x="0" y="0"/>
              <a:chExt cx="772239" cy="781842"/>
            </a:xfrm>
          </p:grpSpPr>
          <p:sp>
            <p:nvSpPr>
              <p:cNvPr name="Freeform 24" id="24"/>
              <p:cNvSpPr/>
              <p:nvPr/>
            </p:nvSpPr>
            <p:spPr>
              <a:xfrm flipH="false" flipV="false" rot="0">
                <a:off x="0" y="0"/>
                <a:ext cx="772239" cy="781842"/>
              </a:xfrm>
              <a:custGeom>
                <a:avLst/>
                <a:gdLst/>
                <a:ahLst/>
                <a:cxnLst/>
                <a:rect r="r" b="b" t="t" l="l"/>
                <a:pathLst>
                  <a:path h="781842" w="772239">
                    <a:moveTo>
                      <a:pt x="147863" y="0"/>
                    </a:moveTo>
                    <a:lnTo>
                      <a:pt x="624377" y="0"/>
                    </a:lnTo>
                    <a:cubicBezTo>
                      <a:pt x="663592" y="0"/>
                      <a:pt x="701202" y="15578"/>
                      <a:pt x="728931" y="43308"/>
                    </a:cubicBezTo>
                    <a:cubicBezTo>
                      <a:pt x="756661" y="71038"/>
                      <a:pt x="772239" y="108647"/>
                      <a:pt x="772239" y="147863"/>
                    </a:cubicBezTo>
                    <a:lnTo>
                      <a:pt x="772239" y="633980"/>
                    </a:lnTo>
                    <a:cubicBezTo>
                      <a:pt x="772239" y="715642"/>
                      <a:pt x="706039" y="781842"/>
                      <a:pt x="624377" y="781842"/>
                    </a:cubicBezTo>
                    <a:lnTo>
                      <a:pt x="147863" y="781842"/>
                    </a:lnTo>
                    <a:cubicBezTo>
                      <a:pt x="66200" y="781842"/>
                      <a:pt x="0" y="715642"/>
                      <a:pt x="0" y="633980"/>
                    </a:cubicBezTo>
                    <a:lnTo>
                      <a:pt x="0" y="147863"/>
                    </a:lnTo>
                    <a:cubicBezTo>
                      <a:pt x="0" y="66200"/>
                      <a:pt x="66200" y="0"/>
                      <a:pt x="147863" y="0"/>
                    </a:cubicBezTo>
                    <a:close/>
                  </a:path>
                </a:pathLst>
              </a:custGeom>
              <a:solidFill>
                <a:srgbClr val="FFFFFF">
                  <a:alpha val="21961"/>
                </a:srgbClr>
              </a:solidFill>
            </p:spPr>
          </p:sp>
          <p:sp>
            <p:nvSpPr>
              <p:cNvPr name="TextBox 25" id="25"/>
              <p:cNvSpPr txBox="true"/>
              <p:nvPr/>
            </p:nvSpPr>
            <p:spPr>
              <a:xfrm>
                <a:off x="0" y="-38100"/>
                <a:ext cx="772239" cy="819942"/>
              </a:xfrm>
              <a:prstGeom prst="rect">
                <a:avLst/>
              </a:prstGeom>
            </p:spPr>
            <p:txBody>
              <a:bodyPr anchor="ctr" rtlCol="false" tIns="50800" lIns="50800" bIns="50800" rIns="50800"/>
              <a:lstStyle/>
              <a:p>
                <a:pPr algn="ctr">
                  <a:lnSpc>
                    <a:spcPts val="2659"/>
                  </a:lnSpc>
                  <a:spcBef>
                    <a:spcPct val="0"/>
                  </a:spcBef>
                </a:pPr>
              </a:p>
            </p:txBody>
          </p:sp>
        </p:grpSp>
        <p:grpSp>
          <p:nvGrpSpPr>
            <p:cNvPr name="Group 26" id="26"/>
            <p:cNvGrpSpPr/>
            <p:nvPr/>
          </p:nvGrpSpPr>
          <p:grpSpPr>
            <a:xfrm rot="0">
              <a:off x="9591524" y="1139638"/>
              <a:ext cx="3909461" cy="3958076"/>
              <a:chOff x="0" y="0"/>
              <a:chExt cx="772239" cy="781842"/>
            </a:xfrm>
          </p:grpSpPr>
          <p:sp>
            <p:nvSpPr>
              <p:cNvPr name="Freeform 27" id="27"/>
              <p:cNvSpPr/>
              <p:nvPr/>
            </p:nvSpPr>
            <p:spPr>
              <a:xfrm flipH="false" flipV="false" rot="0">
                <a:off x="0" y="0"/>
                <a:ext cx="772239" cy="781842"/>
              </a:xfrm>
              <a:custGeom>
                <a:avLst/>
                <a:gdLst/>
                <a:ahLst/>
                <a:cxnLst/>
                <a:rect r="r" b="b" t="t" l="l"/>
                <a:pathLst>
                  <a:path h="781842" w="772239">
                    <a:moveTo>
                      <a:pt x="147863" y="0"/>
                    </a:moveTo>
                    <a:lnTo>
                      <a:pt x="624377" y="0"/>
                    </a:lnTo>
                    <a:cubicBezTo>
                      <a:pt x="663592" y="0"/>
                      <a:pt x="701202" y="15578"/>
                      <a:pt x="728931" y="43308"/>
                    </a:cubicBezTo>
                    <a:cubicBezTo>
                      <a:pt x="756661" y="71038"/>
                      <a:pt x="772239" y="108647"/>
                      <a:pt x="772239" y="147863"/>
                    </a:cubicBezTo>
                    <a:lnTo>
                      <a:pt x="772239" y="633980"/>
                    </a:lnTo>
                    <a:cubicBezTo>
                      <a:pt x="772239" y="715642"/>
                      <a:pt x="706039" y="781842"/>
                      <a:pt x="624377" y="781842"/>
                    </a:cubicBezTo>
                    <a:lnTo>
                      <a:pt x="147863" y="781842"/>
                    </a:lnTo>
                    <a:cubicBezTo>
                      <a:pt x="66200" y="781842"/>
                      <a:pt x="0" y="715642"/>
                      <a:pt x="0" y="633980"/>
                    </a:cubicBezTo>
                    <a:lnTo>
                      <a:pt x="0" y="147863"/>
                    </a:lnTo>
                    <a:cubicBezTo>
                      <a:pt x="0" y="66200"/>
                      <a:pt x="66200" y="0"/>
                      <a:pt x="147863" y="0"/>
                    </a:cubicBezTo>
                    <a:close/>
                  </a:path>
                </a:pathLst>
              </a:custGeom>
              <a:solidFill>
                <a:srgbClr val="FFFFFF">
                  <a:alpha val="21961"/>
                </a:srgbClr>
              </a:solidFill>
            </p:spPr>
          </p:sp>
          <p:sp>
            <p:nvSpPr>
              <p:cNvPr name="TextBox 28" id="28"/>
              <p:cNvSpPr txBox="true"/>
              <p:nvPr/>
            </p:nvSpPr>
            <p:spPr>
              <a:xfrm>
                <a:off x="0" y="-38100"/>
                <a:ext cx="772239" cy="819942"/>
              </a:xfrm>
              <a:prstGeom prst="rect">
                <a:avLst/>
              </a:prstGeom>
            </p:spPr>
            <p:txBody>
              <a:bodyPr anchor="ctr" rtlCol="false" tIns="50800" lIns="50800" bIns="50800" rIns="50800"/>
              <a:lstStyle/>
              <a:p>
                <a:pPr algn="ctr">
                  <a:lnSpc>
                    <a:spcPts val="2659"/>
                  </a:lnSpc>
                  <a:spcBef>
                    <a:spcPct val="0"/>
                  </a:spcBef>
                </a:pPr>
              </a:p>
            </p:txBody>
          </p:sp>
        </p:grpSp>
        <p:grpSp>
          <p:nvGrpSpPr>
            <p:cNvPr name="Group 29" id="29"/>
            <p:cNvGrpSpPr/>
            <p:nvPr/>
          </p:nvGrpSpPr>
          <p:grpSpPr>
            <a:xfrm rot="0">
              <a:off x="14034384" y="1139638"/>
              <a:ext cx="3909461" cy="3958076"/>
              <a:chOff x="0" y="0"/>
              <a:chExt cx="772239" cy="781842"/>
            </a:xfrm>
          </p:grpSpPr>
          <p:sp>
            <p:nvSpPr>
              <p:cNvPr name="Freeform 30" id="30"/>
              <p:cNvSpPr/>
              <p:nvPr/>
            </p:nvSpPr>
            <p:spPr>
              <a:xfrm flipH="false" flipV="false" rot="0">
                <a:off x="0" y="0"/>
                <a:ext cx="772239" cy="781842"/>
              </a:xfrm>
              <a:custGeom>
                <a:avLst/>
                <a:gdLst/>
                <a:ahLst/>
                <a:cxnLst/>
                <a:rect r="r" b="b" t="t" l="l"/>
                <a:pathLst>
                  <a:path h="781842" w="772239">
                    <a:moveTo>
                      <a:pt x="147863" y="0"/>
                    </a:moveTo>
                    <a:lnTo>
                      <a:pt x="624377" y="0"/>
                    </a:lnTo>
                    <a:cubicBezTo>
                      <a:pt x="663592" y="0"/>
                      <a:pt x="701202" y="15578"/>
                      <a:pt x="728931" y="43308"/>
                    </a:cubicBezTo>
                    <a:cubicBezTo>
                      <a:pt x="756661" y="71038"/>
                      <a:pt x="772239" y="108647"/>
                      <a:pt x="772239" y="147863"/>
                    </a:cubicBezTo>
                    <a:lnTo>
                      <a:pt x="772239" y="633980"/>
                    </a:lnTo>
                    <a:cubicBezTo>
                      <a:pt x="772239" y="715642"/>
                      <a:pt x="706039" y="781842"/>
                      <a:pt x="624377" y="781842"/>
                    </a:cubicBezTo>
                    <a:lnTo>
                      <a:pt x="147863" y="781842"/>
                    </a:lnTo>
                    <a:cubicBezTo>
                      <a:pt x="66200" y="781842"/>
                      <a:pt x="0" y="715642"/>
                      <a:pt x="0" y="633980"/>
                    </a:cubicBezTo>
                    <a:lnTo>
                      <a:pt x="0" y="147863"/>
                    </a:lnTo>
                    <a:cubicBezTo>
                      <a:pt x="0" y="66200"/>
                      <a:pt x="66200" y="0"/>
                      <a:pt x="147863" y="0"/>
                    </a:cubicBezTo>
                    <a:close/>
                  </a:path>
                </a:pathLst>
              </a:custGeom>
              <a:solidFill>
                <a:srgbClr val="FFFFFF">
                  <a:alpha val="21961"/>
                </a:srgbClr>
              </a:solidFill>
            </p:spPr>
          </p:sp>
          <p:sp>
            <p:nvSpPr>
              <p:cNvPr name="TextBox 31" id="31"/>
              <p:cNvSpPr txBox="true"/>
              <p:nvPr/>
            </p:nvSpPr>
            <p:spPr>
              <a:xfrm>
                <a:off x="0" y="-38100"/>
                <a:ext cx="772239" cy="819942"/>
              </a:xfrm>
              <a:prstGeom prst="rect">
                <a:avLst/>
              </a:prstGeom>
            </p:spPr>
            <p:txBody>
              <a:bodyPr anchor="ctr" rtlCol="false" tIns="50800" lIns="50800" bIns="50800" rIns="50800"/>
              <a:lstStyle/>
              <a:p>
                <a:pPr algn="ctr">
                  <a:lnSpc>
                    <a:spcPts val="2659"/>
                  </a:lnSpc>
                  <a:spcBef>
                    <a:spcPct val="0"/>
                  </a:spcBef>
                </a:pPr>
              </a:p>
            </p:txBody>
          </p:sp>
        </p:grpSp>
        <p:grpSp>
          <p:nvGrpSpPr>
            <p:cNvPr name="Group 32" id="32"/>
            <p:cNvGrpSpPr/>
            <p:nvPr/>
          </p:nvGrpSpPr>
          <p:grpSpPr>
            <a:xfrm rot="0">
              <a:off x="18477245" y="1139638"/>
              <a:ext cx="3909461" cy="3958076"/>
              <a:chOff x="0" y="0"/>
              <a:chExt cx="772239" cy="781842"/>
            </a:xfrm>
          </p:grpSpPr>
          <p:sp>
            <p:nvSpPr>
              <p:cNvPr name="Freeform 33" id="33"/>
              <p:cNvSpPr/>
              <p:nvPr/>
            </p:nvSpPr>
            <p:spPr>
              <a:xfrm flipH="false" flipV="false" rot="0">
                <a:off x="0" y="0"/>
                <a:ext cx="772239" cy="781842"/>
              </a:xfrm>
              <a:custGeom>
                <a:avLst/>
                <a:gdLst/>
                <a:ahLst/>
                <a:cxnLst/>
                <a:rect r="r" b="b" t="t" l="l"/>
                <a:pathLst>
                  <a:path h="781842" w="772239">
                    <a:moveTo>
                      <a:pt x="147863" y="0"/>
                    </a:moveTo>
                    <a:lnTo>
                      <a:pt x="624377" y="0"/>
                    </a:lnTo>
                    <a:cubicBezTo>
                      <a:pt x="663592" y="0"/>
                      <a:pt x="701202" y="15578"/>
                      <a:pt x="728931" y="43308"/>
                    </a:cubicBezTo>
                    <a:cubicBezTo>
                      <a:pt x="756661" y="71038"/>
                      <a:pt x="772239" y="108647"/>
                      <a:pt x="772239" y="147863"/>
                    </a:cubicBezTo>
                    <a:lnTo>
                      <a:pt x="772239" y="633980"/>
                    </a:lnTo>
                    <a:cubicBezTo>
                      <a:pt x="772239" y="715642"/>
                      <a:pt x="706039" y="781842"/>
                      <a:pt x="624377" y="781842"/>
                    </a:cubicBezTo>
                    <a:lnTo>
                      <a:pt x="147863" y="781842"/>
                    </a:lnTo>
                    <a:cubicBezTo>
                      <a:pt x="66200" y="781842"/>
                      <a:pt x="0" y="715642"/>
                      <a:pt x="0" y="633980"/>
                    </a:cubicBezTo>
                    <a:lnTo>
                      <a:pt x="0" y="147863"/>
                    </a:lnTo>
                    <a:cubicBezTo>
                      <a:pt x="0" y="66200"/>
                      <a:pt x="66200" y="0"/>
                      <a:pt x="147863" y="0"/>
                    </a:cubicBezTo>
                    <a:close/>
                  </a:path>
                </a:pathLst>
              </a:custGeom>
              <a:solidFill>
                <a:srgbClr val="FFFFFF">
                  <a:alpha val="21961"/>
                </a:srgbClr>
              </a:solidFill>
            </p:spPr>
          </p:sp>
          <p:sp>
            <p:nvSpPr>
              <p:cNvPr name="TextBox 34" id="34"/>
              <p:cNvSpPr txBox="true"/>
              <p:nvPr/>
            </p:nvSpPr>
            <p:spPr>
              <a:xfrm>
                <a:off x="0" y="-38100"/>
                <a:ext cx="772239" cy="819942"/>
              </a:xfrm>
              <a:prstGeom prst="rect">
                <a:avLst/>
              </a:prstGeom>
            </p:spPr>
            <p:txBody>
              <a:bodyPr anchor="ctr" rtlCol="false" tIns="50800" lIns="50800" bIns="50800" rIns="50800"/>
              <a:lstStyle/>
              <a:p>
                <a:pPr algn="ctr">
                  <a:lnSpc>
                    <a:spcPts val="2659"/>
                  </a:lnSpc>
                  <a:spcBef>
                    <a:spcPct val="0"/>
                  </a:spcBef>
                </a:pPr>
              </a:p>
            </p:txBody>
          </p:sp>
        </p:grpSp>
        <p:sp>
          <p:nvSpPr>
            <p:cNvPr name="TextBox 35" id="35"/>
            <p:cNvSpPr txBox="true"/>
            <p:nvPr/>
          </p:nvSpPr>
          <p:spPr>
            <a:xfrm rot="0">
              <a:off x="865314" y="2163054"/>
              <a:ext cx="3461257" cy="1825527"/>
            </a:xfrm>
            <a:prstGeom prst="rect">
              <a:avLst/>
            </a:prstGeom>
          </p:spPr>
          <p:txBody>
            <a:bodyPr anchor="t" rtlCol="false" tIns="0" lIns="0" bIns="0" rIns="0">
              <a:spAutoFit/>
            </a:bodyPr>
            <a:lstStyle/>
            <a:p>
              <a:pPr algn="ctr">
                <a:lnSpc>
                  <a:spcPts val="5096"/>
                </a:lnSpc>
              </a:pPr>
              <a:r>
                <a:rPr lang="en-US" b="true" sz="4996" spc="-224">
                  <a:solidFill>
                    <a:srgbClr val="FFFFFF"/>
                  </a:solidFill>
                  <a:latin typeface="Telegraf Bold"/>
                  <a:ea typeface="Telegraf Bold"/>
                  <a:cs typeface="Telegraf Bold"/>
                  <a:sym typeface="Telegraf Bold"/>
                </a:rPr>
                <a:t>Thu Thập</a:t>
              </a:r>
            </a:p>
          </p:txBody>
        </p:sp>
        <p:sp>
          <p:nvSpPr>
            <p:cNvPr name="TextBox 36" id="36"/>
            <p:cNvSpPr txBox="true"/>
            <p:nvPr/>
          </p:nvSpPr>
          <p:spPr>
            <a:xfrm rot="0">
              <a:off x="5487980" y="2163054"/>
              <a:ext cx="3461257" cy="1825527"/>
            </a:xfrm>
            <a:prstGeom prst="rect">
              <a:avLst/>
            </a:prstGeom>
          </p:spPr>
          <p:txBody>
            <a:bodyPr anchor="t" rtlCol="false" tIns="0" lIns="0" bIns="0" rIns="0">
              <a:spAutoFit/>
            </a:bodyPr>
            <a:lstStyle/>
            <a:p>
              <a:pPr algn="ctr">
                <a:lnSpc>
                  <a:spcPts val="5096"/>
                </a:lnSpc>
              </a:pPr>
              <a:r>
                <a:rPr lang="en-US" b="true" sz="4996" spc="-224">
                  <a:solidFill>
                    <a:srgbClr val="FFFFFF"/>
                  </a:solidFill>
                  <a:latin typeface="Telegraf Bold"/>
                  <a:ea typeface="Telegraf Bold"/>
                  <a:cs typeface="Telegraf Bold"/>
                  <a:sym typeface="Telegraf Bold"/>
                </a:rPr>
                <a:t>Tiền Xử Lý</a:t>
              </a:r>
            </a:p>
          </p:txBody>
        </p:sp>
        <p:sp>
          <p:nvSpPr>
            <p:cNvPr name="TextBox 37" id="37"/>
            <p:cNvSpPr txBox="true"/>
            <p:nvPr/>
          </p:nvSpPr>
          <p:spPr>
            <a:xfrm rot="0">
              <a:off x="9815626" y="1464554"/>
              <a:ext cx="3461257" cy="3527327"/>
            </a:xfrm>
            <a:prstGeom prst="rect">
              <a:avLst/>
            </a:prstGeom>
          </p:spPr>
          <p:txBody>
            <a:bodyPr anchor="t" rtlCol="false" tIns="0" lIns="0" bIns="0" rIns="0">
              <a:spAutoFit/>
            </a:bodyPr>
            <a:lstStyle/>
            <a:p>
              <a:pPr algn="ctr">
                <a:lnSpc>
                  <a:spcPts val="5096"/>
                </a:lnSpc>
              </a:pPr>
              <a:r>
                <a:rPr lang="en-US" b="true" sz="4996" spc="-224">
                  <a:solidFill>
                    <a:srgbClr val="FFFFFF"/>
                  </a:solidFill>
                  <a:latin typeface="Telegraf Bold"/>
                  <a:ea typeface="Telegraf Bold"/>
                  <a:cs typeface="Telegraf Bold"/>
                  <a:sym typeface="Telegraf Bold"/>
                </a:rPr>
                <a:t>Lựa Chọn Đặc Trưng</a:t>
              </a:r>
            </a:p>
          </p:txBody>
        </p:sp>
        <p:sp>
          <p:nvSpPr>
            <p:cNvPr name="TextBox 38" id="38"/>
            <p:cNvSpPr txBox="true"/>
            <p:nvPr/>
          </p:nvSpPr>
          <p:spPr>
            <a:xfrm rot="0">
              <a:off x="14258487" y="2163054"/>
              <a:ext cx="3461257" cy="1825527"/>
            </a:xfrm>
            <a:prstGeom prst="rect">
              <a:avLst/>
            </a:prstGeom>
          </p:spPr>
          <p:txBody>
            <a:bodyPr anchor="t" rtlCol="false" tIns="0" lIns="0" bIns="0" rIns="0">
              <a:spAutoFit/>
            </a:bodyPr>
            <a:lstStyle/>
            <a:p>
              <a:pPr algn="ctr">
                <a:lnSpc>
                  <a:spcPts val="5096"/>
                </a:lnSpc>
              </a:pPr>
              <a:r>
                <a:rPr lang="en-US" b="true" sz="4996" spc="-224">
                  <a:solidFill>
                    <a:srgbClr val="FFFFFF"/>
                  </a:solidFill>
                  <a:latin typeface="Telegraf Bold"/>
                  <a:ea typeface="Telegraf Bold"/>
                  <a:cs typeface="Telegraf Bold"/>
                  <a:sym typeface="Telegraf Bold"/>
                </a:rPr>
                <a:t>Huấn Luyện</a:t>
              </a:r>
            </a:p>
          </p:txBody>
        </p:sp>
        <p:sp>
          <p:nvSpPr>
            <p:cNvPr name="TextBox 39" id="39"/>
            <p:cNvSpPr txBox="true"/>
            <p:nvPr/>
          </p:nvSpPr>
          <p:spPr>
            <a:xfrm rot="0">
              <a:off x="18701347" y="2163054"/>
              <a:ext cx="3461257" cy="1825527"/>
            </a:xfrm>
            <a:prstGeom prst="rect">
              <a:avLst/>
            </a:prstGeom>
          </p:spPr>
          <p:txBody>
            <a:bodyPr anchor="t" rtlCol="false" tIns="0" lIns="0" bIns="0" rIns="0">
              <a:spAutoFit/>
            </a:bodyPr>
            <a:lstStyle/>
            <a:p>
              <a:pPr algn="ctr">
                <a:lnSpc>
                  <a:spcPts val="5096"/>
                </a:lnSpc>
              </a:pPr>
              <a:r>
                <a:rPr lang="en-US" b="true" sz="4996" spc="-224">
                  <a:solidFill>
                    <a:srgbClr val="FFFFFF"/>
                  </a:solidFill>
                  <a:latin typeface="Telegraf Bold"/>
                  <a:ea typeface="Telegraf Bold"/>
                  <a:cs typeface="Telegraf Bold"/>
                  <a:sym typeface="Telegraf Bold"/>
                </a:rPr>
                <a:t>Triển Khai</a:t>
              </a:r>
            </a:p>
          </p:txBody>
        </p:sp>
        <p:sp>
          <p:nvSpPr>
            <p:cNvPr name="TextBox 40" id="40"/>
            <p:cNvSpPr txBox="true"/>
            <p:nvPr/>
          </p:nvSpPr>
          <p:spPr>
            <a:xfrm rot="0">
              <a:off x="0" y="581025"/>
              <a:ext cx="1650713" cy="2087092"/>
            </a:xfrm>
            <a:prstGeom prst="rect">
              <a:avLst/>
            </a:prstGeom>
          </p:spPr>
          <p:txBody>
            <a:bodyPr anchor="t" rtlCol="false" tIns="0" lIns="0" bIns="0" rIns="0">
              <a:spAutoFit/>
            </a:bodyPr>
            <a:lstStyle/>
            <a:p>
              <a:pPr algn="r">
                <a:lnSpc>
                  <a:spcPts val="9885"/>
                </a:lnSpc>
              </a:pPr>
              <a:r>
                <a:rPr lang="en-US" b="true" sz="13181" spc="-922">
                  <a:solidFill>
                    <a:srgbClr val="364FAB"/>
                  </a:solidFill>
                  <a:latin typeface="Garet Heavy"/>
                  <a:ea typeface="Garet Heavy"/>
                  <a:cs typeface="Garet Heavy"/>
                  <a:sym typeface="Garet Heavy"/>
                </a:rPr>
                <a:t>1</a:t>
              </a:r>
            </a:p>
          </p:txBody>
        </p:sp>
        <p:sp>
          <p:nvSpPr>
            <p:cNvPr name="TextBox 41" id="41"/>
            <p:cNvSpPr txBox="true"/>
            <p:nvPr/>
          </p:nvSpPr>
          <p:spPr>
            <a:xfrm rot="0">
              <a:off x="4621590" y="581025"/>
              <a:ext cx="1650713" cy="2087092"/>
            </a:xfrm>
            <a:prstGeom prst="rect">
              <a:avLst/>
            </a:prstGeom>
          </p:spPr>
          <p:txBody>
            <a:bodyPr anchor="t" rtlCol="false" tIns="0" lIns="0" bIns="0" rIns="0">
              <a:spAutoFit/>
            </a:bodyPr>
            <a:lstStyle/>
            <a:p>
              <a:pPr algn="r">
                <a:lnSpc>
                  <a:spcPts val="9885"/>
                </a:lnSpc>
              </a:pPr>
              <a:r>
                <a:rPr lang="en-US" b="true" sz="13181" spc="-922">
                  <a:solidFill>
                    <a:srgbClr val="364FAB"/>
                  </a:solidFill>
                  <a:latin typeface="Garet Heavy"/>
                  <a:ea typeface="Garet Heavy"/>
                  <a:cs typeface="Garet Heavy"/>
                  <a:sym typeface="Garet Heavy"/>
                </a:rPr>
                <a:t>2</a:t>
              </a:r>
            </a:p>
          </p:txBody>
        </p:sp>
        <p:sp>
          <p:nvSpPr>
            <p:cNvPr name="TextBox 42" id="42"/>
            <p:cNvSpPr txBox="true"/>
            <p:nvPr/>
          </p:nvSpPr>
          <p:spPr>
            <a:xfrm rot="0">
              <a:off x="8937995" y="581025"/>
              <a:ext cx="1650713" cy="2087092"/>
            </a:xfrm>
            <a:prstGeom prst="rect">
              <a:avLst/>
            </a:prstGeom>
          </p:spPr>
          <p:txBody>
            <a:bodyPr anchor="t" rtlCol="false" tIns="0" lIns="0" bIns="0" rIns="0">
              <a:spAutoFit/>
            </a:bodyPr>
            <a:lstStyle/>
            <a:p>
              <a:pPr algn="r">
                <a:lnSpc>
                  <a:spcPts val="9885"/>
                </a:lnSpc>
              </a:pPr>
              <a:r>
                <a:rPr lang="en-US" b="true" sz="13181" spc="-922">
                  <a:solidFill>
                    <a:srgbClr val="364FAB"/>
                  </a:solidFill>
                  <a:latin typeface="Garet Heavy"/>
                  <a:ea typeface="Garet Heavy"/>
                  <a:cs typeface="Garet Heavy"/>
                  <a:sym typeface="Garet Heavy"/>
                </a:rPr>
                <a:t>3</a:t>
              </a:r>
            </a:p>
          </p:txBody>
        </p:sp>
        <p:sp>
          <p:nvSpPr>
            <p:cNvPr name="TextBox 43" id="43"/>
            <p:cNvSpPr txBox="true"/>
            <p:nvPr/>
          </p:nvSpPr>
          <p:spPr>
            <a:xfrm rot="0">
              <a:off x="13558547" y="581025"/>
              <a:ext cx="1650713" cy="2087092"/>
            </a:xfrm>
            <a:prstGeom prst="rect">
              <a:avLst/>
            </a:prstGeom>
          </p:spPr>
          <p:txBody>
            <a:bodyPr anchor="t" rtlCol="false" tIns="0" lIns="0" bIns="0" rIns="0">
              <a:spAutoFit/>
            </a:bodyPr>
            <a:lstStyle/>
            <a:p>
              <a:pPr algn="r">
                <a:lnSpc>
                  <a:spcPts val="9885"/>
                </a:lnSpc>
              </a:pPr>
              <a:r>
                <a:rPr lang="en-US" b="true" sz="13181" spc="-922">
                  <a:solidFill>
                    <a:srgbClr val="364FAB"/>
                  </a:solidFill>
                  <a:latin typeface="Garet Heavy"/>
                  <a:ea typeface="Garet Heavy"/>
                  <a:cs typeface="Garet Heavy"/>
                  <a:sym typeface="Garet Heavy"/>
                </a:rPr>
                <a:t>4</a:t>
              </a:r>
            </a:p>
          </p:txBody>
        </p:sp>
        <p:sp>
          <p:nvSpPr>
            <p:cNvPr name="TextBox 44" id="44"/>
            <p:cNvSpPr txBox="true"/>
            <p:nvPr/>
          </p:nvSpPr>
          <p:spPr>
            <a:xfrm rot="0">
              <a:off x="17875991" y="599798"/>
              <a:ext cx="1650713" cy="2087092"/>
            </a:xfrm>
            <a:prstGeom prst="rect">
              <a:avLst/>
            </a:prstGeom>
          </p:spPr>
          <p:txBody>
            <a:bodyPr anchor="t" rtlCol="false" tIns="0" lIns="0" bIns="0" rIns="0">
              <a:spAutoFit/>
            </a:bodyPr>
            <a:lstStyle/>
            <a:p>
              <a:pPr algn="r">
                <a:lnSpc>
                  <a:spcPts val="9885"/>
                </a:lnSpc>
              </a:pPr>
              <a:r>
                <a:rPr lang="en-US" b="true" sz="13181" spc="-922">
                  <a:solidFill>
                    <a:srgbClr val="364FAB"/>
                  </a:solidFill>
                  <a:latin typeface="Garet Heavy"/>
                  <a:ea typeface="Garet Heavy"/>
                  <a:cs typeface="Garet Heavy"/>
                  <a:sym typeface="Garet Heavy"/>
                </a:rPr>
                <a:t>5</a:t>
              </a:r>
            </a:p>
          </p:txBody>
        </p:sp>
      </p:grpSp>
      <p:grpSp>
        <p:nvGrpSpPr>
          <p:cNvPr name="Group 45" id="45"/>
          <p:cNvGrpSpPr/>
          <p:nvPr/>
        </p:nvGrpSpPr>
        <p:grpSpPr>
          <a:xfrm rot="0">
            <a:off x="1028700" y="6703968"/>
            <a:ext cx="16230600" cy="3079718"/>
            <a:chOff x="0" y="0"/>
            <a:chExt cx="4274726" cy="811119"/>
          </a:xfrm>
        </p:grpSpPr>
        <p:sp>
          <p:nvSpPr>
            <p:cNvPr name="Freeform 46" id="46"/>
            <p:cNvSpPr/>
            <p:nvPr/>
          </p:nvSpPr>
          <p:spPr>
            <a:xfrm flipH="false" flipV="false" rot="0">
              <a:off x="0" y="0"/>
              <a:ext cx="4274726" cy="811119"/>
            </a:xfrm>
            <a:custGeom>
              <a:avLst/>
              <a:gdLst/>
              <a:ahLst/>
              <a:cxnLst/>
              <a:rect r="r" b="b" t="t" l="l"/>
              <a:pathLst>
                <a:path h="811119" w="4274726">
                  <a:moveTo>
                    <a:pt x="26712" y="0"/>
                  </a:moveTo>
                  <a:lnTo>
                    <a:pt x="4248014" y="0"/>
                  </a:lnTo>
                  <a:cubicBezTo>
                    <a:pt x="4255098" y="0"/>
                    <a:pt x="4261893" y="2814"/>
                    <a:pt x="4266902" y="7824"/>
                  </a:cubicBezTo>
                  <a:cubicBezTo>
                    <a:pt x="4271912" y="12833"/>
                    <a:pt x="4274726" y="19627"/>
                    <a:pt x="4274726" y="26712"/>
                  </a:cubicBezTo>
                  <a:lnTo>
                    <a:pt x="4274726" y="784408"/>
                  </a:lnTo>
                  <a:cubicBezTo>
                    <a:pt x="4274726" y="791492"/>
                    <a:pt x="4271912" y="798286"/>
                    <a:pt x="4266902" y="803296"/>
                  </a:cubicBezTo>
                  <a:cubicBezTo>
                    <a:pt x="4261893" y="808305"/>
                    <a:pt x="4255098" y="811119"/>
                    <a:pt x="4248014" y="811119"/>
                  </a:cubicBezTo>
                  <a:lnTo>
                    <a:pt x="26712" y="811119"/>
                  </a:lnTo>
                  <a:cubicBezTo>
                    <a:pt x="19627" y="811119"/>
                    <a:pt x="12833" y="808305"/>
                    <a:pt x="7824" y="803296"/>
                  </a:cubicBezTo>
                  <a:cubicBezTo>
                    <a:pt x="2814" y="798286"/>
                    <a:pt x="0" y="791492"/>
                    <a:pt x="0" y="784408"/>
                  </a:cubicBezTo>
                  <a:lnTo>
                    <a:pt x="0" y="26712"/>
                  </a:lnTo>
                  <a:cubicBezTo>
                    <a:pt x="0" y="19627"/>
                    <a:pt x="2814" y="12833"/>
                    <a:pt x="7824" y="7824"/>
                  </a:cubicBezTo>
                  <a:cubicBezTo>
                    <a:pt x="12833" y="2814"/>
                    <a:pt x="19627" y="0"/>
                    <a:pt x="26712" y="0"/>
                  </a:cubicBezTo>
                  <a:close/>
                </a:path>
              </a:pathLst>
            </a:custGeom>
            <a:gradFill rotWithShape="true">
              <a:gsLst>
                <a:gs pos="0">
                  <a:srgbClr val="000000">
                    <a:alpha val="78000"/>
                  </a:srgbClr>
                </a:gs>
                <a:gs pos="100000">
                  <a:srgbClr val="DDDDDD">
                    <a:alpha val="14820"/>
                  </a:srgbClr>
                </a:gs>
              </a:gsLst>
              <a:lin ang="2700000"/>
            </a:gradFill>
          </p:spPr>
        </p:sp>
        <p:sp>
          <p:nvSpPr>
            <p:cNvPr name="TextBox 47" id="47"/>
            <p:cNvSpPr txBox="true"/>
            <p:nvPr/>
          </p:nvSpPr>
          <p:spPr>
            <a:xfrm>
              <a:off x="0" y="-66675"/>
              <a:ext cx="4274726" cy="877794"/>
            </a:xfrm>
            <a:prstGeom prst="rect">
              <a:avLst/>
            </a:prstGeom>
          </p:spPr>
          <p:txBody>
            <a:bodyPr anchor="ctr" rtlCol="false" tIns="50800" lIns="50800" bIns="50800" rIns="50800"/>
            <a:lstStyle/>
            <a:p>
              <a:pPr algn="ctr">
                <a:lnSpc>
                  <a:spcPts val="3151"/>
                </a:lnSpc>
              </a:pPr>
            </a:p>
          </p:txBody>
        </p:sp>
      </p:grpSp>
      <p:grpSp>
        <p:nvGrpSpPr>
          <p:cNvPr name="Group 48" id="48"/>
          <p:cNvGrpSpPr/>
          <p:nvPr/>
        </p:nvGrpSpPr>
        <p:grpSpPr>
          <a:xfrm rot="0">
            <a:off x="1282111" y="6884943"/>
            <a:ext cx="839377" cy="245713"/>
            <a:chOff x="0" y="0"/>
            <a:chExt cx="1119170" cy="327618"/>
          </a:xfrm>
        </p:grpSpPr>
        <p:grpSp>
          <p:nvGrpSpPr>
            <p:cNvPr name="Group 49" id="49"/>
            <p:cNvGrpSpPr/>
            <p:nvPr/>
          </p:nvGrpSpPr>
          <p:grpSpPr>
            <a:xfrm rot="0">
              <a:off x="0" y="0"/>
              <a:ext cx="327618" cy="327618"/>
              <a:chOff x="0" y="0"/>
              <a:chExt cx="812800" cy="812800"/>
            </a:xfrm>
          </p:grpSpPr>
          <p:sp>
            <p:nvSpPr>
              <p:cNvPr name="Freeform 50" id="50"/>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5757"/>
              </a:solidFill>
            </p:spPr>
          </p:sp>
          <p:sp>
            <p:nvSpPr>
              <p:cNvPr name="TextBox 51" id="51"/>
              <p:cNvSpPr txBox="true"/>
              <p:nvPr/>
            </p:nvSpPr>
            <p:spPr>
              <a:xfrm>
                <a:off x="76200" y="9525"/>
                <a:ext cx="660400" cy="727075"/>
              </a:xfrm>
              <a:prstGeom prst="rect">
                <a:avLst/>
              </a:prstGeom>
            </p:spPr>
            <p:txBody>
              <a:bodyPr anchor="ctr" rtlCol="false" tIns="56813" lIns="56813" bIns="56813" rIns="56813"/>
              <a:lstStyle/>
              <a:p>
                <a:pPr algn="ctr">
                  <a:lnSpc>
                    <a:spcPts val="3151"/>
                  </a:lnSpc>
                </a:pPr>
              </a:p>
            </p:txBody>
          </p:sp>
        </p:grpSp>
        <p:grpSp>
          <p:nvGrpSpPr>
            <p:cNvPr name="Group 52" id="52"/>
            <p:cNvGrpSpPr/>
            <p:nvPr/>
          </p:nvGrpSpPr>
          <p:grpSpPr>
            <a:xfrm rot="0">
              <a:off x="398109" y="0"/>
              <a:ext cx="327618" cy="327618"/>
              <a:chOff x="0" y="0"/>
              <a:chExt cx="812800" cy="812800"/>
            </a:xfrm>
          </p:grpSpPr>
          <p:sp>
            <p:nvSpPr>
              <p:cNvPr name="Freeform 53" id="5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DE59"/>
              </a:solidFill>
            </p:spPr>
          </p:sp>
          <p:sp>
            <p:nvSpPr>
              <p:cNvPr name="TextBox 54" id="54"/>
              <p:cNvSpPr txBox="true"/>
              <p:nvPr/>
            </p:nvSpPr>
            <p:spPr>
              <a:xfrm>
                <a:off x="76200" y="9525"/>
                <a:ext cx="660400" cy="727075"/>
              </a:xfrm>
              <a:prstGeom prst="rect">
                <a:avLst/>
              </a:prstGeom>
            </p:spPr>
            <p:txBody>
              <a:bodyPr anchor="ctr" rtlCol="false" tIns="56813" lIns="56813" bIns="56813" rIns="56813"/>
              <a:lstStyle/>
              <a:p>
                <a:pPr algn="ctr">
                  <a:lnSpc>
                    <a:spcPts val="3151"/>
                  </a:lnSpc>
                </a:pPr>
              </a:p>
            </p:txBody>
          </p:sp>
        </p:grpSp>
        <p:grpSp>
          <p:nvGrpSpPr>
            <p:cNvPr name="Group 55" id="55"/>
            <p:cNvGrpSpPr/>
            <p:nvPr/>
          </p:nvGrpSpPr>
          <p:grpSpPr>
            <a:xfrm rot="0">
              <a:off x="791552" y="0"/>
              <a:ext cx="327618" cy="327618"/>
              <a:chOff x="0" y="0"/>
              <a:chExt cx="812800" cy="812800"/>
            </a:xfrm>
          </p:grpSpPr>
          <p:sp>
            <p:nvSpPr>
              <p:cNvPr name="Freeform 56" id="5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7ED957"/>
              </a:solidFill>
            </p:spPr>
          </p:sp>
          <p:sp>
            <p:nvSpPr>
              <p:cNvPr name="TextBox 57" id="57"/>
              <p:cNvSpPr txBox="true"/>
              <p:nvPr/>
            </p:nvSpPr>
            <p:spPr>
              <a:xfrm>
                <a:off x="76200" y="9525"/>
                <a:ext cx="660400" cy="727075"/>
              </a:xfrm>
              <a:prstGeom prst="rect">
                <a:avLst/>
              </a:prstGeom>
            </p:spPr>
            <p:txBody>
              <a:bodyPr anchor="ctr" rtlCol="false" tIns="56813" lIns="56813" bIns="56813" rIns="56813"/>
              <a:lstStyle/>
              <a:p>
                <a:pPr algn="ctr">
                  <a:lnSpc>
                    <a:spcPts val="3151"/>
                  </a:lnSpc>
                </a:pPr>
              </a:p>
            </p:txBody>
          </p:sp>
        </p:grpSp>
      </p:grpSp>
      <p:sp>
        <p:nvSpPr>
          <p:cNvPr name="TextBox 58" id="58"/>
          <p:cNvSpPr txBox="true"/>
          <p:nvPr/>
        </p:nvSpPr>
        <p:spPr>
          <a:xfrm rot="0">
            <a:off x="1282111" y="7140181"/>
            <a:ext cx="15819234" cy="2491105"/>
          </a:xfrm>
          <a:prstGeom prst="rect">
            <a:avLst/>
          </a:prstGeom>
        </p:spPr>
        <p:txBody>
          <a:bodyPr anchor="t" rtlCol="false" tIns="0" lIns="0" bIns="0" rIns="0">
            <a:spAutoFit/>
          </a:bodyPr>
          <a:lstStyle/>
          <a:p>
            <a:pPr algn="just">
              <a:lnSpc>
                <a:spcPts val="3919"/>
              </a:lnSpc>
            </a:pPr>
            <a:r>
              <a:rPr lang="en-US" sz="2799">
                <a:solidFill>
                  <a:srgbClr val="FFFFFF"/>
                </a:solidFill>
                <a:latin typeface="Poppins"/>
                <a:ea typeface="Poppins"/>
                <a:cs typeface="Poppins"/>
                <a:sym typeface="Poppins"/>
              </a:rPr>
              <a:t>Đầu tiên, sử dụng bộ dữ liệu ch</a:t>
            </a:r>
            <a:r>
              <a:rPr lang="en-US" sz="2799">
                <a:solidFill>
                  <a:srgbClr val="FFFFFF"/>
                </a:solidFill>
                <a:latin typeface="Poppins"/>
                <a:ea typeface="Poppins"/>
                <a:cs typeface="Poppins"/>
                <a:sym typeface="Poppins"/>
              </a:rPr>
              <a:t>u</a:t>
            </a:r>
            <a:r>
              <a:rPr lang="en-US" sz="2799">
                <a:solidFill>
                  <a:srgbClr val="FFFFFF"/>
                </a:solidFill>
                <a:latin typeface="Poppins"/>
                <a:ea typeface="Poppins"/>
                <a:cs typeface="Poppins"/>
                <a:sym typeface="Poppins"/>
              </a:rPr>
              <a:t>ẩn</a:t>
            </a:r>
            <a:r>
              <a:rPr lang="en-US" sz="2799">
                <a:solidFill>
                  <a:srgbClr val="FFFFFF"/>
                </a:solidFill>
                <a:latin typeface="Poppins"/>
                <a:ea typeface="Poppins"/>
                <a:cs typeface="Poppins"/>
                <a:sym typeface="Poppins"/>
              </a:rPr>
              <a:t> từ Kaggle</a:t>
            </a:r>
            <a:r>
              <a:rPr lang="en-US" sz="2799">
                <a:solidFill>
                  <a:srgbClr val="FFFFFF"/>
                </a:solidFill>
                <a:latin typeface="Poppins"/>
                <a:ea typeface="Poppins"/>
                <a:cs typeface="Poppins"/>
                <a:sym typeface="Poppins"/>
              </a:rPr>
              <a:t>.</a:t>
            </a:r>
            <a:r>
              <a:rPr lang="en-US" sz="2799">
                <a:solidFill>
                  <a:srgbClr val="FFFFFF"/>
                </a:solidFill>
                <a:latin typeface="Poppins"/>
                <a:ea typeface="Poppins"/>
                <a:cs typeface="Poppins"/>
                <a:sym typeface="Poppins"/>
              </a:rPr>
              <a:t> </a:t>
            </a:r>
            <a:r>
              <a:rPr lang="en-US" sz="2799">
                <a:solidFill>
                  <a:srgbClr val="FFFFFF"/>
                </a:solidFill>
                <a:latin typeface="Poppins"/>
                <a:ea typeface="Poppins"/>
                <a:cs typeface="Poppins"/>
                <a:sym typeface="Poppins"/>
              </a:rPr>
              <a:t>Sa</a:t>
            </a:r>
            <a:r>
              <a:rPr lang="en-US" sz="2799">
                <a:solidFill>
                  <a:srgbClr val="FFFFFF"/>
                </a:solidFill>
                <a:latin typeface="Poppins"/>
                <a:ea typeface="Poppins"/>
                <a:cs typeface="Poppins"/>
                <a:sym typeface="Poppins"/>
              </a:rPr>
              <a:t>u </a:t>
            </a:r>
            <a:r>
              <a:rPr lang="en-US" sz="2799">
                <a:solidFill>
                  <a:srgbClr val="FFFFFF"/>
                </a:solidFill>
                <a:latin typeface="Poppins"/>
                <a:ea typeface="Poppins"/>
                <a:cs typeface="Poppins"/>
                <a:sym typeface="Poppins"/>
              </a:rPr>
              <a:t>đó</a:t>
            </a:r>
            <a:r>
              <a:rPr lang="en-US" sz="2799">
                <a:solidFill>
                  <a:srgbClr val="FFFFFF"/>
                </a:solidFill>
                <a:latin typeface="Poppins"/>
                <a:ea typeface="Poppins"/>
                <a:cs typeface="Poppins"/>
                <a:sym typeface="Poppins"/>
              </a:rPr>
              <a:t>, </a:t>
            </a:r>
            <a:r>
              <a:rPr lang="en-US" sz="2799">
                <a:solidFill>
                  <a:srgbClr val="FFFFFF"/>
                </a:solidFill>
                <a:latin typeface="Poppins"/>
                <a:ea typeface="Poppins"/>
                <a:cs typeface="Poppins"/>
                <a:sym typeface="Poppins"/>
              </a:rPr>
              <a:t>dữ liệu được làm sạch và phân tích cho các trường như Thể loại phim. Bước quan trọng nhất là Lựa chọn đặc trưng: loại bỏ tất cả các biến 'tương lai' như doanh thu thực tế hay số lượng vote. Sau khi huấn luyện và tinh chỉnh tham số cho mô hình Random Forest, tiến hành triển khai lên một ứng dụng Web để người dùng cuối có thể tương </a:t>
            </a:r>
            <a:r>
              <a:rPr lang="en-US" sz="2799">
                <a:solidFill>
                  <a:srgbClr val="FFFFFF"/>
                </a:solidFill>
                <a:latin typeface="Poppins"/>
                <a:ea typeface="Poppins"/>
                <a:cs typeface="Poppins"/>
                <a:sym typeface="Poppins"/>
              </a:rPr>
              <a:t>t</a:t>
            </a:r>
            <a:r>
              <a:rPr lang="en-US" sz="2799">
                <a:solidFill>
                  <a:srgbClr val="FFFFFF"/>
                </a:solidFill>
                <a:latin typeface="Poppins"/>
                <a:ea typeface="Poppins"/>
                <a:cs typeface="Poppins"/>
                <a:sym typeface="Poppins"/>
              </a:rPr>
              <a:t>á</a:t>
            </a:r>
            <a:r>
              <a:rPr lang="en-US" sz="2799">
                <a:solidFill>
                  <a:srgbClr val="FFFFFF"/>
                </a:solidFill>
                <a:latin typeface="Poppins"/>
                <a:ea typeface="Poppins"/>
                <a:cs typeface="Poppins"/>
                <a:sym typeface="Poppins"/>
              </a:rPr>
              <a:t>c </a:t>
            </a:r>
            <a:r>
              <a:rPr lang="en-US" sz="2799">
                <a:solidFill>
                  <a:srgbClr val="FFFFFF"/>
                </a:solidFill>
                <a:latin typeface="Poppins"/>
                <a:ea typeface="Poppins"/>
                <a:cs typeface="Poppins"/>
                <a:sym typeface="Poppins"/>
              </a:rPr>
              <a:t>dễ dàng</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00000">
                <a:alpha val="100000"/>
              </a:srgbClr>
            </a:gs>
            <a:gs pos="100000">
              <a:srgbClr val="09033D">
                <a:alpha val="100000"/>
              </a:srgbClr>
            </a:gs>
          </a:gsLst>
          <a:path path="circle">
            <a:fillToRect l="0" r="100000" t="0" b="100000"/>
          </a:path>
          <a:tileRect r="0" l="-100000" b="0" t="-100000"/>
        </a:gradFill>
      </p:bgPr>
    </p:bg>
    <p:spTree>
      <p:nvGrpSpPr>
        <p:cNvPr id="1" name=""/>
        <p:cNvGrpSpPr/>
        <p:nvPr/>
      </p:nvGrpSpPr>
      <p:grpSpPr>
        <a:xfrm>
          <a:off x="0" y="0"/>
          <a:ext cx="0" cy="0"/>
          <a:chOff x="0" y="0"/>
          <a:chExt cx="0" cy="0"/>
        </a:xfrm>
      </p:grpSpPr>
      <p:grpSp>
        <p:nvGrpSpPr>
          <p:cNvPr name="Group 2" id="2"/>
          <p:cNvGrpSpPr/>
          <p:nvPr/>
        </p:nvGrpSpPr>
        <p:grpSpPr>
          <a:xfrm rot="0">
            <a:off x="6664598" y="1958224"/>
            <a:ext cx="11313594" cy="7599868"/>
            <a:chOff x="0" y="0"/>
            <a:chExt cx="1752772" cy="1177418"/>
          </a:xfrm>
        </p:grpSpPr>
        <p:sp>
          <p:nvSpPr>
            <p:cNvPr name="Freeform 3" id="3"/>
            <p:cNvSpPr/>
            <p:nvPr/>
          </p:nvSpPr>
          <p:spPr>
            <a:xfrm flipH="false" flipV="false" rot="0">
              <a:off x="0" y="0"/>
              <a:ext cx="1752772" cy="1177418"/>
            </a:xfrm>
            <a:custGeom>
              <a:avLst/>
              <a:gdLst/>
              <a:ahLst/>
              <a:cxnLst/>
              <a:rect r="r" b="b" t="t" l="l"/>
              <a:pathLst>
                <a:path h="1177418" w="1752772">
                  <a:moveTo>
                    <a:pt x="38321" y="0"/>
                  </a:moveTo>
                  <a:lnTo>
                    <a:pt x="1714451" y="0"/>
                  </a:lnTo>
                  <a:cubicBezTo>
                    <a:pt x="1724614" y="0"/>
                    <a:pt x="1734361" y="4037"/>
                    <a:pt x="1741548" y="11224"/>
                  </a:cubicBezTo>
                  <a:cubicBezTo>
                    <a:pt x="1748735" y="18411"/>
                    <a:pt x="1752772" y="28158"/>
                    <a:pt x="1752772" y="38321"/>
                  </a:cubicBezTo>
                  <a:lnTo>
                    <a:pt x="1752772" y="1139098"/>
                  </a:lnTo>
                  <a:cubicBezTo>
                    <a:pt x="1752772" y="1160262"/>
                    <a:pt x="1735615" y="1177418"/>
                    <a:pt x="1714451" y="1177418"/>
                  </a:cubicBezTo>
                  <a:lnTo>
                    <a:pt x="38321" y="1177418"/>
                  </a:lnTo>
                  <a:cubicBezTo>
                    <a:pt x="17157" y="1177418"/>
                    <a:pt x="0" y="1160262"/>
                    <a:pt x="0" y="1139098"/>
                  </a:cubicBezTo>
                  <a:lnTo>
                    <a:pt x="0" y="38321"/>
                  </a:lnTo>
                  <a:cubicBezTo>
                    <a:pt x="0" y="17157"/>
                    <a:pt x="17157" y="0"/>
                    <a:pt x="38321" y="0"/>
                  </a:cubicBezTo>
                  <a:close/>
                </a:path>
              </a:pathLst>
            </a:custGeom>
            <a:blipFill>
              <a:blip r:embed="rId2"/>
              <a:stretch>
                <a:fillRect l="-36" t="0" r="-36" b="0"/>
              </a:stretch>
            </a:blipFill>
          </p:spPr>
        </p:sp>
      </p:grpSp>
      <p:grpSp>
        <p:nvGrpSpPr>
          <p:cNvPr name="Group 4" id="4"/>
          <p:cNvGrpSpPr/>
          <p:nvPr/>
        </p:nvGrpSpPr>
        <p:grpSpPr>
          <a:xfrm rot="0">
            <a:off x="803986" y="942224"/>
            <a:ext cx="5672308" cy="8460834"/>
            <a:chOff x="0" y="0"/>
            <a:chExt cx="1493941" cy="2228368"/>
          </a:xfrm>
        </p:grpSpPr>
        <p:sp>
          <p:nvSpPr>
            <p:cNvPr name="Freeform 5" id="5"/>
            <p:cNvSpPr/>
            <p:nvPr/>
          </p:nvSpPr>
          <p:spPr>
            <a:xfrm flipH="false" flipV="false" rot="0">
              <a:off x="0" y="0"/>
              <a:ext cx="1493941" cy="2228368"/>
            </a:xfrm>
            <a:custGeom>
              <a:avLst/>
              <a:gdLst/>
              <a:ahLst/>
              <a:cxnLst/>
              <a:rect r="r" b="b" t="t" l="l"/>
              <a:pathLst>
                <a:path h="2228368" w="1493941">
                  <a:moveTo>
                    <a:pt x="76432" y="0"/>
                  </a:moveTo>
                  <a:lnTo>
                    <a:pt x="1417509" y="0"/>
                  </a:lnTo>
                  <a:cubicBezTo>
                    <a:pt x="1459721" y="0"/>
                    <a:pt x="1493941" y="34220"/>
                    <a:pt x="1493941" y="76432"/>
                  </a:cubicBezTo>
                  <a:lnTo>
                    <a:pt x="1493941" y="2151936"/>
                  </a:lnTo>
                  <a:cubicBezTo>
                    <a:pt x="1493941" y="2172207"/>
                    <a:pt x="1485889" y="2191647"/>
                    <a:pt x="1471555" y="2205981"/>
                  </a:cubicBezTo>
                  <a:cubicBezTo>
                    <a:pt x="1457221" y="2220315"/>
                    <a:pt x="1437780" y="2228368"/>
                    <a:pt x="1417509" y="2228368"/>
                  </a:cubicBezTo>
                  <a:lnTo>
                    <a:pt x="76432" y="2228368"/>
                  </a:lnTo>
                  <a:cubicBezTo>
                    <a:pt x="56161" y="2228368"/>
                    <a:pt x="36720" y="2220315"/>
                    <a:pt x="22387" y="2205981"/>
                  </a:cubicBezTo>
                  <a:cubicBezTo>
                    <a:pt x="8053" y="2191647"/>
                    <a:pt x="0" y="2172207"/>
                    <a:pt x="0" y="2151936"/>
                  </a:cubicBezTo>
                  <a:lnTo>
                    <a:pt x="0" y="76432"/>
                  </a:lnTo>
                  <a:cubicBezTo>
                    <a:pt x="0" y="56161"/>
                    <a:pt x="8053" y="36720"/>
                    <a:pt x="22387" y="22387"/>
                  </a:cubicBezTo>
                  <a:cubicBezTo>
                    <a:pt x="36720" y="8053"/>
                    <a:pt x="56161" y="0"/>
                    <a:pt x="76432" y="0"/>
                  </a:cubicBezTo>
                  <a:close/>
                </a:path>
              </a:pathLst>
            </a:custGeom>
            <a:gradFill rotWithShape="true">
              <a:gsLst>
                <a:gs pos="0">
                  <a:srgbClr val="000000">
                    <a:alpha val="78000"/>
                  </a:srgbClr>
                </a:gs>
                <a:gs pos="100000">
                  <a:srgbClr val="DDDDDD">
                    <a:alpha val="14820"/>
                  </a:srgbClr>
                </a:gs>
              </a:gsLst>
              <a:lin ang="2700000"/>
            </a:gradFill>
          </p:spPr>
        </p:sp>
        <p:sp>
          <p:nvSpPr>
            <p:cNvPr name="TextBox 6" id="6"/>
            <p:cNvSpPr txBox="true"/>
            <p:nvPr/>
          </p:nvSpPr>
          <p:spPr>
            <a:xfrm>
              <a:off x="0" y="-66675"/>
              <a:ext cx="1493941" cy="2295043"/>
            </a:xfrm>
            <a:prstGeom prst="rect">
              <a:avLst/>
            </a:prstGeom>
          </p:spPr>
          <p:txBody>
            <a:bodyPr anchor="ctr" rtlCol="false" tIns="50800" lIns="50800" bIns="50800" rIns="50800"/>
            <a:lstStyle/>
            <a:p>
              <a:pPr algn="ctr">
                <a:lnSpc>
                  <a:spcPts val="3151"/>
                </a:lnSpc>
              </a:pPr>
            </a:p>
          </p:txBody>
        </p:sp>
      </p:grpSp>
      <p:sp>
        <p:nvSpPr>
          <p:cNvPr name="TextBox 7" id="7"/>
          <p:cNvSpPr txBox="true"/>
          <p:nvPr/>
        </p:nvSpPr>
        <p:spPr>
          <a:xfrm rot="0">
            <a:off x="939885" y="2903833"/>
            <a:ext cx="5400510" cy="5880100"/>
          </a:xfrm>
          <a:prstGeom prst="rect">
            <a:avLst/>
          </a:prstGeom>
        </p:spPr>
        <p:txBody>
          <a:bodyPr anchor="t" rtlCol="false" tIns="0" lIns="0" bIns="0" rIns="0">
            <a:spAutoFit/>
          </a:bodyPr>
          <a:lstStyle/>
          <a:p>
            <a:pPr algn="just">
              <a:lnSpc>
                <a:spcPts val="4999"/>
              </a:lnSpc>
            </a:pPr>
            <a:r>
              <a:rPr lang="en-US" sz="2499" b="true">
                <a:solidFill>
                  <a:srgbClr val="FFFFFF"/>
                </a:solidFill>
                <a:latin typeface="Poppins Bold"/>
                <a:ea typeface="Poppins Bold"/>
                <a:cs typeface="Poppins Bold"/>
                <a:sym typeface="Poppins Bold"/>
              </a:rPr>
              <a:t>Tên ứng dụng:</a:t>
            </a:r>
            <a:r>
              <a:rPr lang="en-US" sz="2499">
                <a:solidFill>
                  <a:srgbClr val="FFFFFF"/>
                </a:solidFill>
                <a:latin typeface="Poppins"/>
                <a:ea typeface="Poppins"/>
                <a:cs typeface="Poppins"/>
                <a:sym typeface="Poppins"/>
              </a:rPr>
              <a:t> </a:t>
            </a:r>
            <a:r>
              <a:rPr lang="en-US" b="true" sz="2499" i="true">
                <a:solidFill>
                  <a:srgbClr val="FFFFFF"/>
                </a:solidFill>
                <a:latin typeface="Poppins Bold Italics"/>
                <a:ea typeface="Poppins Bold Italics"/>
                <a:cs typeface="Poppins Bold Italics"/>
                <a:sym typeface="Poppins Bold Italics"/>
              </a:rPr>
              <a:t>MoviePredict</a:t>
            </a:r>
          </a:p>
          <a:p>
            <a:pPr algn="just">
              <a:lnSpc>
                <a:spcPts val="3499"/>
              </a:lnSpc>
            </a:pPr>
            <a:r>
              <a:rPr lang="en-US" sz="2499" b="true">
                <a:solidFill>
                  <a:srgbClr val="FFFFFF"/>
                </a:solidFill>
                <a:latin typeface="Poppins Bold"/>
                <a:ea typeface="Poppins Bold"/>
                <a:cs typeface="Poppins Bold"/>
                <a:sym typeface="Poppins Bold"/>
              </a:rPr>
              <a:t>Chức năng:</a:t>
            </a:r>
          </a:p>
          <a:p>
            <a:pPr algn="just" marL="539749" indent="-269875" lvl="1">
              <a:lnSpc>
                <a:spcPts val="3499"/>
              </a:lnSpc>
              <a:buFont typeface="Arial"/>
              <a:buChar char="•"/>
            </a:pPr>
            <a:r>
              <a:rPr lang="en-US" sz="2499">
                <a:solidFill>
                  <a:srgbClr val="FFFFFF"/>
                </a:solidFill>
                <a:latin typeface="Poppins"/>
                <a:ea typeface="Poppins"/>
                <a:cs typeface="Poppins"/>
                <a:sym typeface="Poppins"/>
              </a:rPr>
              <a:t>Input: Ngân sách, Thể loại, Đạo diễn, Diễn viên (Top 3).</a:t>
            </a:r>
          </a:p>
          <a:p>
            <a:pPr algn="just" marL="539749" indent="-269875" lvl="1">
              <a:lnSpc>
                <a:spcPts val="3499"/>
              </a:lnSpc>
              <a:buFont typeface="Arial"/>
              <a:buChar char="•"/>
            </a:pPr>
            <a:r>
              <a:rPr lang="en-US" sz="2499">
                <a:solidFill>
                  <a:srgbClr val="FFFFFF"/>
                </a:solidFill>
                <a:latin typeface="Poppins"/>
                <a:ea typeface="Poppins"/>
                <a:cs typeface="Poppins"/>
                <a:sym typeface="Poppins"/>
              </a:rPr>
              <a:t>Output: Dự đoán doanh thu &amp; Đánh giá (Rating).</a:t>
            </a:r>
          </a:p>
          <a:p>
            <a:pPr algn="just">
              <a:lnSpc>
                <a:spcPts val="4999"/>
              </a:lnSpc>
            </a:pPr>
            <a:r>
              <a:rPr lang="en-US" sz="2499" b="true">
                <a:solidFill>
                  <a:srgbClr val="FFFFFF"/>
                </a:solidFill>
                <a:latin typeface="Poppins Bold"/>
                <a:ea typeface="Poppins Bold"/>
                <a:cs typeface="Poppins Bold"/>
                <a:sym typeface="Poppins Bold"/>
              </a:rPr>
              <a:t>Tính năng:</a:t>
            </a:r>
          </a:p>
          <a:p>
            <a:pPr algn="just" marL="539749" indent="-269875" lvl="1">
              <a:lnSpc>
                <a:spcPts val="3499"/>
              </a:lnSpc>
              <a:buFont typeface="Arial"/>
              <a:buChar char="•"/>
            </a:pPr>
            <a:r>
              <a:rPr lang="en-US" sz="2499">
                <a:solidFill>
                  <a:srgbClr val="FFFFFF"/>
                </a:solidFill>
                <a:latin typeface="Poppins"/>
                <a:ea typeface="Poppins"/>
                <a:cs typeface="Poppins"/>
                <a:sym typeface="Poppins"/>
              </a:rPr>
              <a:t>Dự đoán Real-time.</a:t>
            </a:r>
          </a:p>
          <a:p>
            <a:pPr algn="just" marL="539749" indent="-269875" lvl="1">
              <a:lnSpc>
                <a:spcPts val="3499"/>
              </a:lnSpc>
              <a:buFont typeface="Arial"/>
              <a:buChar char="•"/>
            </a:pPr>
            <a:r>
              <a:rPr lang="en-US" sz="2499">
                <a:solidFill>
                  <a:srgbClr val="FFFFFF"/>
                </a:solidFill>
                <a:latin typeface="Poppins"/>
                <a:ea typeface="Poppins"/>
                <a:cs typeface="Poppins"/>
                <a:sym typeface="Poppins"/>
              </a:rPr>
              <a:t>Trực quan hóa: Biểu đồ Budget vs Revenue, Heatmap.</a:t>
            </a:r>
          </a:p>
          <a:p>
            <a:pPr algn="just">
              <a:lnSpc>
                <a:spcPts val="4999"/>
              </a:lnSpc>
            </a:pPr>
            <a:r>
              <a:rPr lang="en-US" sz="2499" b="true">
                <a:solidFill>
                  <a:srgbClr val="FFFFFF"/>
                </a:solidFill>
                <a:latin typeface="Poppins Bold"/>
                <a:ea typeface="Poppins Bold"/>
                <a:cs typeface="Poppins Bold"/>
                <a:sym typeface="Poppins Bold"/>
              </a:rPr>
              <a:t>Tên miền:</a:t>
            </a:r>
            <a:r>
              <a:rPr lang="en-US" sz="2499">
                <a:solidFill>
                  <a:srgbClr val="FFFFFF"/>
                </a:solidFill>
                <a:latin typeface="Poppins"/>
                <a:ea typeface="Poppins"/>
                <a:cs typeface="Poppins"/>
                <a:sym typeface="Poppins"/>
              </a:rPr>
              <a:t> </a:t>
            </a:r>
            <a:r>
              <a:rPr lang="en-US" sz="2499" i="true">
                <a:solidFill>
                  <a:srgbClr val="FFFFFF"/>
                </a:solidFill>
                <a:latin typeface="Poppins Italics"/>
                <a:ea typeface="Poppins Italics"/>
                <a:cs typeface="Poppins Italics"/>
                <a:sym typeface="Poppins Italics"/>
              </a:rPr>
              <a:t>ktmjn.site</a:t>
            </a:r>
          </a:p>
          <a:p>
            <a:pPr algn="just">
              <a:lnSpc>
                <a:spcPts val="3499"/>
              </a:lnSpc>
            </a:pPr>
          </a:p>
        </p:txBody>
      </p:sp>
      <p:sp>
        <p:nvSpPr>
          <p:cNvPr name="TextBox 8" id="8"/>
          <p:cNvSpPr txBox="true"/>
          <p:nvPr/>
        </p:nvSpPr>
        <p:spPr>
          <a:xfrm rot="0">
            <a:off x="2125429" y="1701460"/>
            <a:ext cx="4045420" cy="942152"/>
          </a:xfrm>
          <a:prstGeom prst="rect">
            <a:avLst/>
          </a:prstGeom>
        </p:spPr>
        <p:txBody>
          <a:bodyPr anchor="t" rtlCol="false" tIns="0" lIns="0" bIns="0" rIns="0">
            <a:spAutoFit/>
          </a:bodyPr>
          <a:lstStyle/>
          <a:p>
            <a:pPr algn="l">
              <a:lnSpc>
                <a:spcPts val="6642"/>
              </a:lnSpc>
            </a:pPr>
            <a:r>
              <a:rPr lang="en-US" sz="6512" spc="-293" b="true">
                <a:solidFill>
                  <a:srgbClr val="FFFFFF"/>
                </a:solidFill>
                <a:latin typeface="Telegraf Bold"/>
                <a:ea typeface="Telegraf Bold"/>
                <a:cs typeface="Telegraf Bold"/>
                <a:sym typeface="Telegraf Bold"/>
              </a:rPr>
              <a:t>Mô Tả </a:t>
            </a:r>
          </a:p>
        </p:txBody>
      </p:sp>
      <p:sp>
        <p:nvSpPr>
          <p:cNvPr name="TextBox 9" id="9"/>
          <p:cNvSpPr txBox="true"/>
          <p:nvPr/>
        </p:nvSpPr>
        <p:spPr>
          <a:xfrm rot="0">
            <a:off x="6972668" y="700924"/>
            <a:ext cx="6140920" cy="1447799"/>
          </a:xfrm>
          <a:prstGeom prst="rect">
            <a:avLst/>
          </a:prstGeom>
        </p:spPr>
        <p:txBody>
          <a:bodyPr anchor="t" rtlCol="false" tIns="0" lIns="0" bIns="0" rIns="0">
            <a:spAutoFit/>
          </a:bodyPr>
          <a:lstStyle/>
          <a:p>
            <a:pPr algn="l">
              <a:lnSpc>
                <a:spcPts val="10199"/>
              </a:lnSpc>
            </a:pPr>
            <a:r>
              <a:rPr lang="en-US" sz="9999" spc="-449" b="true">
                <a:solidFill>
                  <a:srgbClr val="FFFFFF"/>
                </a:solidFill>
                <a:latin typeface="Telegraf Bold"/>
                <a:ea typeface="Telegraf Bold"/>
                <a:cs typeface="Telegraf Bold"/>
                <a:sym typeface="Telegraf Bold"/>
              </a:rPr>
              <a:t>Sản Phẩm</a:t>
            </a:r>
          </a:p>
        </p:txBody>
      </p:sp>
      <p:grpSp>
        <p:nvGrpSpPr>
          <p:cNvPr name="Group 10" id="10"/>
          <p:cNvGrpSpPr/>
          <p:nvPr/>
        </p:nvGrpSpPr>
        <p:grpSpPr>
          <a:xfrm rot="0">
            <a:off x="1028700" y="1149883"/>
            <a:ext cx="839377" cy="245713"/>
            <a:chOff x="0" y="0"/>
            <a:chExt cx="1119170" cy="327618"/>
          </a:xfrm>
        </p:grpSpPr>
        <p:grpSp>
          <p:nvGrpSpPr>
            <p:cNvPr name="Group 11" id="11"/>
            <p:cNvGrpSpPr/>
            <p:nvPr/>
          </p:nvGrpSpPr>
          <p:grpSpPr>
            <a:xfrm rot="0">
              <a:off x="0" y="0"/>
              <a:ext cx="327618" cy="327618"/>
              <a:chOff x="0" y="0"/>
              <a:chExt cx="812800" cy="812800"/>
            </a:xfrm>
          </p:grpSpPr>
          <p:sp>
            <p:nvSpPr>
              <p:cNvPr name="Freeform 12" id="12"/>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5757"/>
              </a:solidFill>
            </p:spPr>
          </p:sp>
          <p:sp>
            <p:nvSpPr>
              <p:cNvPr name="TextBox 13" id="13"/>
              <p:cNvSpPr txBox="true"/>
              <p:nvPr/>
            </p:nvSpPr>
            <p:spPr>
              <a:xfrm>
                <a:off x="76200" y="9525"/>
                <a:ext cx="660400" cy="727075"/>
              </a:xfrm>
              <a:prstGeom prst="rect">
                <a:avLst/>
              </a:prstGeom>
            </p:spPr>
            <p:txBody>
              <a:bodyPr anchor="ctr" rtlCol="false" tIns="56813" lIns="56813" bIns="56813" rIns="56813"/>
              <a:lstStyle/>
              <a:p>
                <a:pPr algn="ctr">
                  <a:lnSpc>
                    <a:spcPts val="3151"/>
                  </a:lnSpc>
                </a:pPr>
              </a:p>
            </p:txBody>
          </p:sp>
        </p:grpSp>
        <p:grpSp>
          <p:nvGrpSpPr>
            <p:cNvPr name="Group 14" id="14"/>
            <p:cNvGrpSpPr/>
            <p:nvPr/>
          </p:nvGrpSpPr>
          <p:grpSpPr>
            <a:xfrm rot="0">
              <a:off x="398109" y="0"/>
              <a:ext cx="327618" cy="327618"/>
              <a:chOff x="0" y="0"/>
              <a:chExt cx="812800" cy="812800"/>
            </a:xfrm>
          </p:grpSpPr>
          <p:sp>
            <p:nvSpPr>
              <p:cNvPr name="Freeform 15" id="15"/>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DE59"/>
              </a:solidFill>
            </p:spPr>
          </p:sp>
          <p:sp>
            <p:nvSpPr>
              <p:cNvPr name="TextBox 16" id="16"/>
              <p:cNvSpPr txBox="true"/>
              <p:nvPr/>
            </p:nvSpPr>
            <p:spPr>
              <a:xfrm>
                <a:off x="76200" y="9525"/>
                <a:ext cx="660400" cy="727075"/>
              </a:xfrm>
              <a:prstGeom prst="rect">
                <a:avLst/>
              </a:prstGeom>
            </p:spPr>
            <p:txBody>
              <a:bodyPr anchor="ctr" rtlCol="false" tIns="56813" lIns="56813" bIns="56813" rIns="56813"/>
              <a:lstStyle/>
              <a:p>
                <a:pPr algn="ctr">
                  <a:lnSpc>
                    <a:spcPts val="3151"/>
                  </a:lnSpc>
                </a:pPr>
              </a:p>
            </p:txBody>
          </p:sp>
        </p:grpSp>
        <p:grpSp>
          <p:nvGrpSpPr>
            <p:cNvPr name="Group 17" id="17"/>
            <p:cNvGrpSpPr/>
            <p:nvPr/>
          </p:nvGrpSpPr>
          <p:grpSpPr>
            <a:xfrm rot="0">
              <a:off x="791552" y="0"/>
              <a:ext cx="327618" cy="327618"/>
              <a:chOff x="0" y="0"/>
              <a:chExt cx="812800" cy="812800"/>
            </a:xfrm>
          </p:grpSpPr>
          <p:sp>
            <p:nvSpPr>
              <p:cNvPr name="Freeform 18" id="18"/>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7ED957"/>
              </a:solidFill>
            </p:spPr>
          </p:sp>
          <p:sp>
            <p:nvSpPr>
              <p:cNvPr name="TextBox 19" id="19"/>
              <p:cNvSpPr txBox="true"/>
              <p:nvPr/>
            </p:nvSpPr>
            <p:spPr>
              <a:xfrm>
                <a:off x="76200" y="9525"/>
                <a:ext cx="660400" cy="727075"/>
              </a:xfrm>
              <a:prstGeom prst="rect">
                <a:avLst/>
              </a:prstGeom>
            </p:spPr>
            <p:txBody>
              <a:bodyPr anchor="ctr" rtlCol="false" tIns="56813" lIns="56813" bIns="56813" rIns="56813"/>
              <a:lstStyle/>
              <a:p>
                <a:pPr algn="ctr">
                  <a:lnSpc>
                    <a:spcPts val="3151"/>
                  </a:lnSpc>
                </a:pPr>
              </a:p>
            </p:txBody>
          </p:sp>
        </p:grpSp>
      </p:grpSp>
    </p:spTree>
  </p:cSld>
  <p:clrMapOvr>
    <a:masterClrMapping/>
  </p:clrMapOvr>
</p:sld>
</file>

<file path=ppt/slides/slide7.xml><?xml version="1.0" encoding="utf-8"?>
<p:sld xmlns:p="http://schemas.openxmlformats.org/presentationml/2006/main" xmlns:a="http://schemas.openxmlformats.org/drawingml/2006/main">
  <p:cSld>
    <p:bg>
      <p:bgPr>
        <a:gradFill rotWithShape="true">
          <a:gsLst>
            <a:gs pos="0">
              <a:srgbClr val="000000">
                <a:alpha val="100000"/>
              </a:srgbClr>
            </a:gs>
            <a:gs pos="100000">
              <a:srgbClr val="09033D">
                <a:alpha val="100000"/>
              </a:srgbClr>
            </a:gs>
          </a:gsLst>
          <a:path path="circle">
            <a:fillToRect l="0" r="100000" t="0" b="100000"/>
          </a:path>
          <a:tileRect r="0" l="-100000" b="0" t="-100000"/>
        </a:gradFill>
      </p:bgPr>
    </p:bg>
    <p:spTree>
      <p:nvGrpSpPr>
        <p:cNvPr id="1" name=""/>
        <p:cNvGrpSpPr/>
        <p:nvPr/>
      </p:nvGrpSpPr>
      <p:grpSpPr>
        <a:xfrm>
          <a:off x="0" y="0"/>
          <a:ext cx="0" cy="0"/>
          <a:chOff x="0" y="0"/>
          <a:chExt cx="0" cy="0"/>
        </a:xfrm>
      </p:grpSpPr>
      <p:grpSp>
        <p:nvGrpSpPr>
          <p:cNvPr name="Group 2" id="2"/>
          <p:cNvGrpSpPr/>
          <p:nvPr/>
        </p:nvGrpSpPr>
        <p:grpSpPr>
          <a:xfrm rot="0">
            <a:off x="803986" y="1793124"/>
            <a:ext cx="7145508" cy="2880476"/>
            <a:chOff x="0" y="0"/>
            <a:chExt cx="1881944" cy="758644"/>
          </a:xfrm>
        </p:grpSpPr>
        <p:sp>
          <p:nvSpPr>
            <p:cNvPr name="Freeform 3" id="3"/>
            <p:cNvSpPr/>
            <p:nvPr/>
          </p:nvSpPr>
          <p:spPr>
            <a:xfrm flipH="false" flipV="false" rot="0">
              <a:off x="0" y="0"/>
              <a:ext cx="1881944" cy="758644"/>
            </a:xfrm>
            <a:custGeom>
              <a:avLst/>
              <a:gdLst/>
              <a:ahLst/>
              <a:cxnLst/>
              <a:rect r="r" b="b" t="t" l="l"/>
              <a:pathLst>
                <a:path h="758644" w="1881944">
                  <a:moveTo>
                    <a:pt x="60674" y="0"/>
                  </a:moveTo>
                  <a:lnTo>
                    <a:pt x="1821270" y="0"/>
                  </a:lnTo>
                  <a:cubicBezTo>
                    <a:pt x="1854780" y="0"/>
                    <a:pt x="1881944" y="27165"/>
                    <a:pt x="1881944" y="60674"/>
                  </a:cubicBezTo>
                  <a:lnTo>
                    <a:pt x="1881944" y="697970"/>
                  </a:lnTo>
                  <a:cubicBezTo>
                    <a:pt x="1881944" y="731479"/>
                    <a:pt x="1854780" y="758644"/>
                    <a:pt x="1821270" y="758644"/>
                  </a:cubicBezTo>
                  <a:lnTo>
                    <a:pt x="60674" y="758644"/>
                  </a:lnTo>
                  <a:cubicBezTo>
                    <a:pt x="27165" y="758644"/>
                    <a:pt x="0" y="731479"/>
                    <a:pt x="0" y="697970"/>
                  </a:cubicBezTo>
                  <a:lnTo>
                    <a:pt x="0" y="60674"/>
                  </a:lnTo>
                  <a:cubicBezTo>
                    <a:pt x="0" y="27165"/>
                    <a:pt x="27165" y="0"/>
                    <a:pt x="60674" y="0"/>
                  </a:cubicBezTo>
                  <a:close/>
                </a:path>
              </a:pathLst>
            </a:custGeom>
            <a:gradFill rotWithShape="true">
              <a:gsLst>
                <a:gs pos="0">
                  <a:srgbClr val="000000">
                    <a:alpha val="78000"/>
                  </a:srgbClr>
                </a:gs>
                <a:gs pos="100000">
                  <a:srgbClr val="DDDDDD">
                    <a:alpha val="14820"/>
                  </a:srgbClr>
                </a:gs>
              </a:gsLst>
              <a:lin ang="2700000"/>
            </a:gradFill>
          </p:spPr>
        </p:sp>
        <p:sp>
          <p:nvSpPr>
            <p:cNvPr name="TextBox 4" id="4"/>
            <p:cNvSpPr txBox="true"/>
            <p:nvPr/>
          </p:nvSpPr>
          <p:spPr>
            <a:xfrm>
              <a:off x="0" y="-66675"/>
              <a:ext cx="1881944" cy="825319"/>
            </a:xfrm>
            <a:prstGeom prst="rect">
              <a:avLst/>
            </a:prstGeom>
          </p:spPr>
          <p:txBody>
            <a:bodyPr anchor="ctr" rtlCol="false" tIns="50800" lIns="50800" bIns="50800" rIns="50800"/>
            <a:lstStyle/>
            <a:p>
              <a:pPr algn="ctr">
                <a:lnSpc>
                  <a:spcPts val="3151"/>
                </a:lnSpc>
              </a:pPr>
            </a:p>
          </p:txBody>
        </p:sp>
      </p:grpSp>
      <p:grpSp>
        <p:nvGrpSpPr>
          <p:cNvPr name="Group 5" id="5"/>
          <p:cNvGrpSpPr/>
          <p:nvPr/>
        </p:nvGrpSpPr>
        <p:grpSpPr>
          <a:xfrm rot="0">
            <a:off x="803986" y="5904504"/>
            <a:ext cx="7145508" cy="3865317"/>
            <a:chOff x="0" y="0"/>
            <a:chExt cx="1881944" cy="1018026"/>
          </a:xfrm>
        </p:grpSpPr>
        <p:sp>
          <p:nvSpPr>
            <p:cNvPr name="Freeform 6" id="6"/>
            <p:cNvSpPr/>
            <p:nvPr/>
          </p:nvSpPr>
          <p:spPr>
            <a:xfrm flipH="false" flipV="false" rot="0">
              <a:off x="0" y="0"/>
              <a:ext cx="1881944" cy="1018026"/>
            </a:xfrm>
            <a:custGeom>
              <a:avLst/>
              <a:gdLst/>
              <a:ahLst/>
              <a:cxnLst/>
              <a:rect r="r" b="b" t="t" l="l"/>
              <a:pathLst>
                <a:path h="1018026" w="1881944">
                  <a:moveTo>
                    <a:pt x="45506" y="0"/>
                  </a:moveTo>
                  <a:lnTo>
                    <a:pt x="1836439" y="0"/>
                  </a:lnTo>
                  <a:cubicBezTo>
                    <a:pt x="1848508" y="0"/>
                    <a:pt x="1860082" y="4794"/>
                    <a:pt x="1868616" y="13328"/>
                  </a:cubicBezTo>
                  <a:cubicBezTo>
                    <a:pt x="1877150" y="21862"/>
                    <a:pt x="1881944" y="33437"/>
                    <a:pt x="1881944" y="45506"/>
                  </a:cubicBezTo>
                  <a:lnTo>
                    <a:pt x="1881944" y="972520"/>
                  </a:lnTo>
                  <a:cubicBezTo>
                    <a:pt x="1881944" y="984589"/>
                    <a:pt x="1877150" y="996164"/>
                    <a:pt x="1868616" y="1004698"/>
                  </a:cubicBezTo>
                  <a:cubicBezTo>
                    <a:pt x="1860082" y="1013232"/>
                    <a:pt x="1848508" y="1018026"/>
                    <a:pt x="1836439" y="1018026"/>
                  </a:cubicBezTo>
                  <a:lnTo>
                    <a:pt x="45506" y="1018026"/>
                  </a:lnTo>
                  <a:cubicBezTo>
                    <a:pt x="33437" y="1018026"/>
                    <a:pt x="21862" y="1013232"/>
                    <a:pt x="13328" y="1004698"/>
                  </a:cubicBezTo>
                  <a:cubicBezTo>
                    <a:pt x="4794" y="996164"/>
                    <a:pt x="0" y="984589"/>
                    <a:pt x="0" y="972520"/>
                  </a:cubicBezTo>
                  <a:lnTo>
                    <a:pt x="0" y="45506"/>
                  </a:lnTo>
                  <a:cubicBezTo>
                    <a:pt x="0" y="33437"/>
                    <a:pt x="4794" y="21862"/>
                    <a:pt x="13328" y="13328"/>
                  </a:cubicBezTo>
                  <a:cubicBezTo>
                    <a:pt x="21862" y="4794"/>
                    <a:pt x="33437" y="0"/>
                    <a:pt x="45506" y="0"/>
                  </a:cubicBezTo>
                  <a:close/>
                </a:path>
              </a:pathLst>
            </a:custGeom>
            <a:gradFill rotWithShape="true">
              <a:gsLst>
                <a:gs pos="0">
                  <a:srgbClr val="000F9B">
                    <a:alpha val="100000"/>
                  </a:srgbClr>
                </a:gs>
                <a:gs pos="50000">
                  <a:srgbClr val="EB0000">
                    <a:alpha val="100000"/>
                  </a:srgbClr>
                </a:gs>
                <a:gs pos="100000">
                  <a:srgbClr val="A000EB">
                    <a:alpha val="100000"/>
                  </a:srgbClr>
                </a:gs>
              </a:gsLst>
              <a:path path="circle">
                <a:fillToRect l="0" r="100000" t="0" b="100000"/>
              </a:path>
              <a:tileRect r="0" l="-100000" b="0" t="-100000"/>
            </a:gradFill>
          </p:spPr>
        </p:sp>
        <p:sp>
          <p:nvSpPr>
            <p:cNvPr name="TextBox 7" id="7"/>
            <p:cNvSpPr txBox="true"/>
            <p:nvPr/>
          </p:nvSpPr>
          <p:spPr>
            <a:xfrm>
              <a:off x="0" y="-66675"/>
              <a:ext cx="1881944" cy="1084701"/>
            </a:xfrm>
            <a:prstGeom prst="rect">
              <a:avLst/>
            </a:prstGeom>
          </p:spPr>
          <p:txBody>
            <a:bodyPr anchor="ctr" rtlCol="false" tIns="50800" lIns="50800" bIns="50800" rIns="50800"/>
            <a:lstStyle/>
            <a:p>
              <a:pPr algn="ctr">
                <a:lnSpc>
                  <a:spcPts val="3151"/>
                </a:lnSpc>
              </a:pPr>
            </a:p>
          </p:txBody>
        </p:sp>
      </p:grpSp>
      <p:grpSp>
        <p:nvGrpSpPr>
          <p:cNvPr name="Group 8" id="8"/>
          <p:cNvGrpSpPr/>
          <p:nvPr/>
        </p:nvGrpSpPr>
        <p:grpSpPr>
          <a:xfrm rot="0">
            <a:off x="11163604" y="1793124"/>
            <a:ext cx="6649305" cy="7573887"/>
            <a:chOff x="0" y="0"/>
            <a:chExt cx="1751257" cy="1994769"/>
          </a:xfrm>
        </p:grpSpPr>
        <p:sp>
          <p:nvSpPr>
            <p:cNvPr name="Freeform 9" id="9"/>
            <p:cNvSpPr/>
            <p:nvPr/>
          </p:nvSpPr>
          <p:spPr>
            <a:xfrm flipH="false" flipV="false" rot="0">
              <a:off x="0" y="0"/>
              <a:ext cx="1751257" cy="1994769"/>
            </a:xfrm>
            <a:custGeom>
              <a:avLst/>
              <a:gdLst/>
              <a:ahLst/>
              <a:cxnLst/>
              <a:rect r="r" b="b" t="t" l="l"/>
              <a:pathLst>
                <a:path h="1994769" w="1751257">
                  <a:moveTo>
                    <a:pt x="65202" y="0"/>
                  </a:moveTo>
                  <a:lnTo>
                    <a:pt x="1686056" y="0"/>
                  </a:lnTo>
                  <a:cubicBezTo>
                    <a:pt x="1703348" y="0"/>
                    <a:pt x="1719932" y="6869"/>
                    <a:pt x="1732160" y="19097"/>
                  </a:cubicBezTo>
                  <a:cubicBezTo>
                    <a:pt x="1744388" y="31325"/>
                    <a:pt x="1751257" y="47909"/>
                    <a:pt x="1751257" y="65202"/>
                  </a:cubicBezTo>
                  <a:lnTo>
                    <a:pt x="1751257" y="1929567"/>
                  </a:lnTo>
                  <a:cubicBezTo>
                    <a:pt x="1751257" y="1946859"/>
                    <a:pt x="1744388" y="1963444"/>
                    <a:pt x="1732160" y="1975671"/>
                  </a:cubicBezTo>
                  <a:cubicBezTo>
                    <a:pt x="1719932" y="1987899"/>
                    <a:pt x="1703348" y="1994769"/>
                    <a:pt x="1686056" y="1994769"/>
                  </a:cubicBezTo>
                  <a:lnTo>
                    <a:pt x="65202" y="1994769"/>
                  </a:lnTo>
                  <a:cubicBezTo>
                    <a:pt x="47909" y="1994769"/>
                    <a:pt x="31325" y="1987899"/>
                    <a:pt x="19097" y="1975671"/>
                  </a:cubicBezTo>
                  <a:cubicBezTo>
                    <a:pt x="6869" y="1963444"/>
                    <a:pt x="0" y="1946859"/>
                    <a:pt x="0" y="1929567"/>
                  </a:cubicBezTo>
                  <a:lnTo>
                    <a:pt x="0" y="65202"/>
                  </a:lnTo>
                  <a:cubicBezTo>
                    <a:pt x="0" y="47909"/>
                    <a:pt x="6869" y="31325"/>
                    <a:pt x="19097" y="19097"/>
                  </a:cubicBezTo>
                  <a:cubicBezTo>
                    <a:pt x="31325" y="6869"/>
                    <a:pt x="47909" y="0"/>
                    <a:pt x="65202" y="0"/>
                  </a:cubicBezTo>
                  <a:close/>
                </a:path>
              </a:pathLst>
            </a:custGeom>
            <a:solidFill>
              <a:srgbClr val="000000">
                <a:alpha val="0"/>
              </a:srgbClr>
            </a:solidFill>
            <a:ln w="28575" cap="rnd">
              <a:solidFill>
                <a:srgbClr val="FFFFFF"/>
              </a:solidFill>
              <a:prstDash val="solid"/>
              <a:round/>
            </a:ln>
          </p:spPr>
        </p:sp>
        <p:sp>
          <p:nvSpPr>
            <p:cNvPr name="TextBox 10" id="10"/>
            <p:cNvSpPr txBox="true"/>
            <p:nvPr/>
          </p:nvSpPr>
          <p:spPr>
            <a:xfrm>
              <a:off x="0" y="-66675"/>
              <a:ext cx="1751257" cy="2061444"/>
            </a:xfrm>
            <a:prstGeom prst="rect">
              <a:avLst/>
            </a:prstGeom>
          </p:spPr>
          <p:txBody>
            <a:bodyPr anchor="ctr" rtlCol="false" tIns="50800" lIns="50800" bIns="50800" rIns="50800"/>
            <a:lstStyle/>
            <a:p>
              <a:pPr algn="ctr">
                <a:lnSpc>
                  <a:spcPts val="3151"/>
                </a:lnSpc>
              </a:pPr>
            </a:p>
          </p:txBody>
        </p:sp>
      </p:grpSp>
      <p:sp>
        <p:nvSpPr>
          <p:cNvPr name="TextBox 11" id="11"/>
          <p:cNvSpPr txBox="true"/>
          <p:nvPr/>
        </p:nvSpPr>
        <p:spPr>
          <a:xfrm rot="0">
            <a:off x="977040" y="6273488"/>
            <a:ext cx="6799400" cy="3970655"/>
          </a:xfrm>
          <a:prstGeom prst="rect">
            <a:avLst/>
          </a:prstGeom>
        </p:spPr>
        <p:txBody>
          <a:bodyPr anchor="t" rtlCol="false" tIns="0" lIns="0" bIns="0" rIns="0">
            <a:spAutoFit/>
          </a:bodyPr>
          <a:lstStyle/>
          <a:p>
            <a:pPr algn="just">
              <a:lnSpc>
                <a:spcPts val="5320"/>
              </a:lnSpc>
            </a:pPr>
            <a:r>
              <a:rPr lang="en-US" sz="3800" spc="-167">
                <a:solidFill>
                  <a:srgbClr val="FFFFFF"/>
                </a:solidFill>
                <a:latin typeface="Open Sauce"/>
                <a:ea typeface="Open Sauce"/>
                <a:cs typeface="Open Sauce"/>
                <a:sym typeface="Open Sauce"/>
              </a:rPr>
              <a:t>Budget (Kinh phí): Yếu tố quan trọng nhất.</a:t>
            </a:r>
          </a:p>
          <a:p>
            <a:pPr algn="just">
              <a:lnSpc>
                <a:spcPts val="5320"/>
              </a:lnSpc>
            </a:pPr>
            <a:r>
              <a:rPr lang="en-US" sz="3800" spc="-167">
                <a:solidFill>
                  <a:srgbClr val="FFFFFF"/>
                </a:solidFill>
                <a:latin typeface="Open Sauce"/>
                <a:ea typeface="Open Sauce"/>
                <a:cs typeface="Open Sauce"/>
                <a:sym typeface="Open Sauce"/>
              </a:rPr>
              <a:t>Vote/Star Profile: Sức hút của ê-kíp làm phim (Đạo diễn &amp; Diễn viên).</a:t>
            </a:r>
          </a:p>
          <a:p>
            <a:pPr algn="just">
              <a:lnSpc>
                <a:spcPts val="5320"/>
              </a:lnSpc>
            </a:pPr>
          </a:p>
        </p:txBody>
      </p:sp>
      <p:sp>
        <p:nvSpPr>
          <p:cNvPr name="TextBox 12" id="12"/>
          <p:cNvSpPr txBox="true"/>
          <p:nvPr/>
        </p:nvSpPr>
        <p:spPr>
          <a:xfrm rot="0">
            <a:off x="11630605" y="2278067"/>
            <a:ext cx="5715304" cy="6014086"/>
          </a:xfrm>
          <a:prstGeom prst="rect">
            <a:avLst/>
          </a:prstGeom>
        </p:spPr>
        <p:txBody>
          <a:bodyPr anchor="t" rtlCol="false" tIns="0" lIns="0" bIns="0" rIns="0">
            <a:spAutoFit/>
          </a:bodyPr>
          <a:lstStyle/>
          <a:p>
            <a:pPr algn="just">
              <a:lnSpc>
                <a:spcPts val="7919"/>
              </a:lnSpc>
            </a:pPr>
            <a:r>
              <a:rPr lang="en-US" sz="5499">
                <a:solidFill>
                  <a:srgbClr val="FFFFFF"/>
                </a:solidFill>
                <a:latin typeface="Poppins"/>
                <a:ea typeface="Poppins"/>
                <a:cs typeface="Poppins"/>
                <a:sym typeface="Poppins"/>
              </a:rPr>
              <a:t>Thấp hơn mô hình bị Leakage (99%) nhưng là chỉ số TRUNG THỰC và THỰC TẾ.</a:t>
            </a:r>
          </a:p>
        </p:txBody>
      </p:sp>
      <p:sp>
        <p:nvSpPr>
          <p:cNvPr name="TextBox 13" id="13"/>
          <p:cNvSpPr txBox="true"/>
          <p:nvPr/>
        </p:nvSpPr>
        <p:spPr>
          <a:xfrm rot="0">
            <a:off x="803986" y="583815"/>
            <a:ext cx="12144311" cy="1187576"/>
          </a:xfrm>
          <a:prstGeom prst="rect">
            <a:avLst/>
          </a:prstGeom>
        </p:spPr>
        <p:txBody>
          <a:bodyPr anchor="t" rtlCol="false" tIns="0" lIns="0" bIns="0" rIns="0">
            <a:spAutoFit/>
          </a:bodyPr>
          <a:lstStyle/>
          <a:p>
            <a:pPr algn="l">
              <a:lnSpc>
                <a:spcPts val="8363"/>
              </a:lnSpc>
            </a:pPr>
            <a:r>
              <a:rPr lang="en-US" sz="8199" spc="-368" b="true">
                <a:solidFill>
                  <a:srgbClr val="FFFFFF"/>
                </a:solidFill>
                <a:latin typeface="Telegraf Bold"/>
                <a:ea typeface="Telegraf Bold"/>
                <a:cs typeface="Telegraf Bold"/>
                <a:sym typeface="Telegraf Bold"/>
              </a:rPr>
              <a:t>Kết Quả Đạt Được</a:t>
            </a:r>
          </a:p>
        </p:txBody>
      </p:sp>
      <p:sp>
        <p:nvSpPr>
          <p:cNvPr name="TextBox 14" id="14"/>
          <p:cNvSpPr txBox="true"/>
          <p:nvPr/>
        </p:nvSpPr>
        <p:spPr>
          <a:xfrm rot="0">
            <a:off x="1140419" y="2354267"/>
            <a:ext cx="6369320" cy="1749425"/>
          </a:xfrm>
          <a:prstGeom prst="rect">
            <a:avLst/>
          </a:prstGeom>
        </p:spPr>
        <p:txBody>
          <a:bodyPr anchor="t" rtlCol="false" tIns="0" lIns="0" bIns="0" rIns="0">
            <a:spAutoFit/>
          </a:bodyPr>
          <a:lstStyle/>
          <a:p>
            <a:pPr algn="just">
              <a:lnSpc>
                <a:spcPts val="7000"/>
              </a:lnSpc>
            </a:pPr>
            <a:r>
              <a:rPr lang="en-US" sz="5000" spc="-220">
                <a:solidFill>
                  <a:srgbClr val="FFFFFF"/>
                </a:solidFill>
                <a:latin typeface="Open Sauce"/>
                <a:ea typeface="Open Sauce"/>
                <a:cs typeface="Open Sauce"/>
                <a:sym typeface="Open Sauce"/>
              </a:rPr>
              <a:t>Độ chính xác: ~75-80% (R2 Score/Accuracy).</a:t>
            </a:r>
          </a:p>
        </p:txBody>
      </p:sp>
      <p:grpSp>
        <p:nvGrpSpPr>
          <p:cNvPr name="Group 15" id="15"/>
          <p:cNvGrpSpPr/>
          <p:nvPr/>
        </p:nvGrpSpPr>
        <p:grpSpPr>
          <a:xfrm rot="0">
            <a:off x="1028700" y="1956333"/>
            <a:ext cx="839377" cy="245713"/>
            <a:chOff x="0" y="0"/>
            <a:chExt cx="1119170" cy="327618"/>
          </a:xfrm>
        </p:grpSpPr>
        <p:grpSp>
          <p:nvGrpSpPr>
            <p:cNvPr name="Group 16" id="16"/>
            <p:cNvGrpSpPr/>
            <p:nvPr/>
          </p:nvGrpSpPr>
          <p:grpSpPr>
            <a:xfrm rot="0">
              <a:off x="0" y="0"/>
              <a:ext cx="327618" cy="327618"/>
              <a:chOff x="0" y="0"/>
              <a:chExt cx="812800" cy="812800"/>
            </a:xfrm>
          </p:grpSpPr>
          <p:sp>
            <p:nvSpPr>
              <p:cNvPr name="Freeform 17" id="1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5757"/>
              </a:solidFill>
            </p:spPr>
          </p:sp>
          <p:sp>
            <p:nvSpPr>
              <p:cNvPr name="TextBox 18" id="18"/>
              <p:cNvSpPr txBox="true"/>
              <p:nvPr/>
            </p:nvSpPr>
            <p:spPr>
              <a:xfrm>
                <a:off x="76200" y="9525"/>
                <a:ext cx="660400" cy="727075"/>
              </a:xfrm>
              <a:prstGeom prst="rect">
                <a:avLst/>
              </a:prstGeom>
            </p:spPr>
            <p:txBody>
              <a:bodyPr anchor="ctr" rtlCol="false" tIns="56813" lIns="56813" bIns="56813" rIns="56813"/>
              <a:lstStyle/>
              <a:p>
                <a:pPr algn="ctr">
                  <a:lnSpc>
                    <a:spcPts val="3151"/>
                  </a:lnSpc>
                </a:pPr>
              </a:p>
            </p:txBody>
          </p:sp>
        </p:grpSp>
        <p:grpSp>
          <p:nvGrpSpPr>
            <p:cNvPr name="Group 19" id="19"/>
            <p:cNvGrpSpPr/>
            <p:nvPr/>
          </p:nvGrpSpPr>
          <p:grpSpPr>
            <a:xfrm rot="0">
              <a:off x="398109" y="0"/>
              <a:ext cx="327618" cy="327618"/>
              <a:chOff x="0" y="0"/>
              <a:chExt cx="812800" cy="812800"/>
            </a:xfrm>
          </p:grpSpPr>
          <p:sp>
            <p:nvSpPr>
              <p:cNvPr name="Freeform 20" id="20"/>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DE59"/>
              </a:solidFill>
            </p:spPr>
          </p:sp>
          <p:sp>
            <p:nvSpPr>
              <p:cNvPr name="TextBox 21" id="21"/>
              <p:cNvSpPr txBox="true"/>
              <p:nvPr/>
            </p:nvSpPr>
            <p:spPr>
              <a:xfrm>
                <a:off x="76200" y="9525"/>
                <a:ext cx="660400" cy="727075"/>
              </a:xfrm>
              <a:prstGeom prst="rect">
                <a:avLst/>
              </a:prstGeom>
            </p:spPr>
            <p:txBody>
              <a:bodyPr anchor="ctr" rtlCol="false" tIns="56813" lIns="56813" bIns="56813" rIns="56813"/>
              <a:lstStyle/>
              <a:p>
                <a:pPr algn="ctr">
                  <a:lnSpc>
                    <a:spcPts val="3151"/>
                  </a:lnSpc>
                </a:pPr>
              </a:p>
            </p:txBody>
          </p:sp>
        </p:grpSp>
        <p:grpSp>
          <p:nvGrpSpPr>
            <p:cNvPr name="Group 22" id="22"/>
            <p:cNvGrpSpPr/>
            <p:nvPr/>
          </p:nvGrpSpPr>
          <p:grpSpPr>
            <a:xfrm rot="0">
              <a:off x="791552" y="0"/>
              <a:ext cx="327618" cy="327618"/>
              <a:chOff x="0" y="0"/>
              <a:chExt cx="812800" cy="812800"/>
            </a:xfrm>
          </p:grpSpPr>
          <p:sp>
            <p:nvSpPr>
              <p:cNvPr name="Freeform 23" id="2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7ED957"/>
              </a:solidFill>
            </p:spPr>
          </p:sp>
          <p:sp>
            <p:nvSpPr>
              <p:cNvPr name="TextBox 24" id="24"/>
              <p:cNvSpPr txBox="true"/>
              <p:nvPr/>
            </p:nvSpPr>
            <p:spPr>
              <a:xfrm>
                <a:off x="76200" y="9525"/>
                <a:ext cx="660400" cy="727075"/>
              </a:xfrm>
              <a:prstGeom prst="rect">
                <a:avLst/>
              </a:prstGeom>
            </p:spPr>
            <p:txBody>
              <a:bodyPr anchor="ctr" rtlCol="false" tIns="56813" lIns="56813" bIns="56813" rIns="56813"/>
              <a:lstStyle/>
              <a:p>
                <a:pPr algn="ctr">
                  <a:lnSpc>
                    <a:spcPts val="3151"/>
                  </a:lnSpc>
                </a:pPr>
              </a:p>
            </p:txBody>
          </p:sp>
        </p:grpSp>
      </p:grpSp>
      <p:grpSp>
        <p:nvGrpSpPr>
          <p:cNvPr name="Group 25" id="25"/>
          <p:cNvGrpSpPr/>
          <p:nvPr/>
        </p:nvGrpSpPr>
        <p:grpSpPr>
          <a:xfrm rot="0">
            <a:off x="1028700" y="5975953"/>
            <a:ext cx="839377" cy="245713"/>
            <a:chOff x="0" y="0"/>
            <a:chExt cx="1119170" cy="327618"/>
          </a:xfrm>
        </p:grpSpPr>
        <p:grpSp>
          <p:nvGrpSpPr>
            <p:cNvPr name="Group 26" id="26"/>
            <p:cNvGrpSpPr/>
            <p:nvPr/>
          </p:nvGrpSpPr>
          <p:grpSpPr>
            <a:xfrm rot="0">
              <a:off x="0" y="0"/>
              <a:ext cx="327618" cy="327618"/>
              <a:chOff x="0" y="0"/>
              <a:chExt cx="812800" cy="812800"/>
            </a:xfrm>
          </p:grpSpPr>
          <p:sp>
            <p:nvSpPr>
              <p:cNvPr name="Freeform 27" id="2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5757"/>
              </a:solidFill>
            </p:spPr>
          </p:sp>
          <p:sp>
            <p:nvSpPr>
              <p:cNvPr name="TextBox 28" id="28"/>
              <p:cNvSpPr txBox="true"/>
              <p:nvPr/>
            </p:nvSpPr>
            <p:spPr>
              <a:xfrm>
                <a:off x="76200" y="9525"/>
                <a:ext cx="660400" cy="727075"/>
              </a:xfrm>
              <a:prstGeom prst="rect">
                <a:avLst/>
              </a:prstGeom>
            </p:spPr>
            <p:txBody>
              <a:bodyPr anchor="ctr" rtlCol="false" tIns="56813" lIns="56813" bIns="56813" rIns="56813"/>
              <a:lstStyle/>
              <a:p>
                <a:pPr algn="ctr">
                  <a:lnSpc>
                    <a:spcPts val="3151"/>
                  </a:lnSpc>
                </a:pPr>
              </a:p>
            </p:txBody>
          </p:sp>
        </p:grpSp>
        <p:grpSp>
          <p:nvGrpSpPr>
            <p:cNvPr name="Group 29" id="29"/>
            <p:cNvGrpSpPr/>
            <p:nvPr/>
          </p:nvGrpSpPr>
          <p:grpSpPr>
            <a:xfrm rot="0">
              <a:off x="398109" y="0"/>
              <a:ext cx="327618" cy="327618"/>
              <a:chOff x="0" y="0"/>
              <a:chExt cx="812800" cy="812800"/>
            </a:xfrm>
          </p:grpSpPr>
          <p:sp>
            <p:nvSpPr>
              <p:cNvPr name="Freeform 30" id="30"/>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DE59"/>
              </a:solidFill>
            </p:spPr>
          </p:sp>
          <p:sp>
            <p:nvSpPr>
              <p:cNvPr name="TextBox 31" id="31"/>
              <p:cNvSpPr txBox="true"/>
              <p:nvPr/>
            </p:nvSpPr>
            <p:spPr>
              <a:xfrm>
                <a:off x="76200" y="9525"/>
                <a:ext cx="660400" cy="727075"/>
              </a:xfrm>
              <a:prstGeom prst="rect">
                <a:avLst/>
              </a:prstGeom>
            </p:spPr>
            <p:txBody>
              <a:bodyPr anchor="ctr" rtlCol="false" tIns="56813" lIns="56813" bIns="56813" rIns="56813"/>
              <a:lstStyle/>
              <a:p>
                <a:pPr algn="ctr">
                  <a:lnSpc>
                    <a:spcPts val="3151"/>
                  </a:lnSpc>
                </a:pPr>
              </a:p>
            </p:txBody>
          </p:sp>
        </p:grpSp>
        <p:grpSp>
          <p:nvGrpSpPr>
            <p:cNvPr name="Group 32" id="32"/>
            <p:cNvGrpSpPr/>
            <p:nvPr/>
          </p:nvGrpSpPr>
          <p:grpSpPr>
            <a:xfrm rot="0">
              <a:off x="791552" y="0"/>
              <a:ext cx="327618" cy="327618"/>
              <a:chOff x="0" y="0"/>
              <a:chExt cx="812800" cy="812800"/>
            </a:xfrm>
          </p:grpSpPr>
          <p:sp>
            <p:nvSpPr>
              <p:cNvPr name="Freeform 33" id="3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7ED957"/>
              </a:solidFill>
            </p:spPr>
          </p:sp>
          <p:sp>
            <p:nvSpPr>
              <p:cNvPr name="TextBox 34" id="34"/>
              <p:cNvSpPr txBox="true"/>
              <p:nvPr/>
            </p:nvSpPr>
            <p:spPr>
              <a:xfrm>
                <a:off x="76200" y="9525"/>
                <a:ext cx="660400" cy="727075"/>
              </a:xfrm>
              <a:prstGeom prst="rect">
                <a:avLst/>
              </a:prstGeom>
            </p:spPr>
            <p:txBody>
              <a:bodyPr anchor="ctr" rtlCol="false" tIns="56813" lIns="56813" bIns="56813" rIns="56813"/>
              <a:lstStyle/>
              <a:p>
                <a:pPr algn="ctr">
                  <a:lnSpc>
                    <a:spcPts val="3151"/>
                  </a:lnSpc>
                </a:pPr>
              </a:p>
            </p:txBody>
          </p:sp>
        </p:grpSp>
      </p:grpSp>
      <p:sp>
        <p:nvSpPr>
          <p:cNvPr name="TextBox 35" id="35"/>
          <p:cNvSpPr txBox="true"/>
          <p:nvPr/>
        </p:nvSpPr>
        <p:spPr>
          <a:xfrm rot="0">
            <a:off x="692998" y="4787900"/>
            <a:ext cx="12144311" cy="1187576"/>
          </a:xfrm>
          <a:prstGeom prst="rect">
            <a:avLst/>
          </a:prstGeom>
        </p:spPr>
        <p:txBody>
          <a:bodyPr anchor="t" rtlCol="false" tIns="0" lIns="0" bIns="0" rIns="0">
            <a:spAutoFit/>
          </a:bodyPr>
          <a:lstStyle/>
          <a:p>
            <a:pPr algn="l">
              <a:lnSpc>
                <a:spcPts val="8363"/>
              </a:lnSpc>
            </a:pPr>
            <a:r>
              <a:rPr lang="en-US" sz="8199" spc="-368" b="true">
                <a:solidFill>
                  <a:srgbClr val="FFFFFF"/>
                </a:solidFill>
                <a:latin typeface="Telegraf Bold"/>
                <a:ea typeface="Telegraf Bold"/>
                <a:cs typeface="Telegraf Bold"/>
                <a:sym typeface="Telegraf Bold"/>
              </a:rPr>
              <a:t>Yếu Tố Ảnh Hưởng</a:t>
            </a:r>
          </a:p>
        </p:txBody>
      </p:sp>
    </p:spTree>
  </p:cSld>
  <p:clrMapOvr>
    <a:masterClrMapping/>
  </p:clrMapOvr>
</p:sld>
</file>

<file path=ppt/slides/slide8.xml><?xml version="1.0" encoding="utf-8"?>
<p:sld xmlns:p="http://schemas.openxmlformats.org/presentationml/2006/main" xmlns:a="http://schemas.openxmlformats.org/drawingml/2006/main">
  <p:cSld>
    <p:bg>
      <p:bgPr>
        <a:gradFill rotWithShape="true">
          <a:gsLst>
            <a:gs pos="0">
              <a:srgbClr val="000000">
                <a:alpha val="100000"/>
              </a:srgbClr>
            </a:gs>
            <a:gs pos="100000">
              <a:srgbClr val="09033D">
                <a:alpha val="100000"/>
              </a:srgbClr>
            </a:gs>
          </a:gsLst>
          <a:path path="circle">
            <a:fillToRect l="0" r="100000" t="0" b="100000"/>
          </a:path>
          <a:tileRect r="0" l="-100000" b="0" t="-100000"/>
        </a:gradFill>
      </p:bgPr>
    </p:bg>
    <p:spTree>
      <p:nvGrpSpPr>
        <p:cNvPr id="1" name=""/>
        <p:cNvGrpSpPr/>
        <p:nvPr/>
      </p:nvGrpSpPr>
      <p:grpSpPr>
        <a:xfrm>
          <a:off x="0" y="0"/>
          <a:ext cx="0" cy="0"/>
          <a:chOff x="0" y="0"/>
          <a:chExt cx="0" cy="0"/>
        </a:xfrm>
      </p:grpSpPr>
      <p:grpSp>
        <p:nvGrpSpPr>
          <p:cNvPr name="Group 2" id="2"/>
          <p:cNvGrpSpPr/>
          <p:nvPr/>
        </p:nvGrpSpPr>
        <p:grpSpPr>
          <a:xfrm rot="0">
            <a:off x="803986" y="1221624"/>
            <a:ext cx="7145508" cy="8400340"/>
            <a:chOff x="0" y="0"/>
            <a:chExt cx="1881944" cy="2212435"/>
          </a:xfrm>
        </p:grpSpPr>
        <p:sp>
          <p:nvSpPr>
            <p:cNvPr name="Freeform 3" id="3"/>
            <p:cNvSpPr/>
            <p:nvPr/>
          </p:nvSpPr>
          <p:spPr>
            <a:xfrm flipH="false" flipV="false" rot="0">
              <a:off x="0" y="0"/>
              <a:ext cx="1881944" cy="2212435"/>
            </a:xfrm>
            <a:custGeom>
              <a:avLst/>
              <a:gdLst/>
              <a:ahLst/>
              <a:cxnLst/>
              <a:rect r="r" b="b" t="t" l="l"/>
              <a:pathLst>
                <a:path h="2212435" w="1881944">
                  <a:moveTo>
                    <a:pt x="60674" y="0"/>
                  </a:moveTo>
                  <a:lnTo>
                    <a:pt x="1821270" y="0"/>
                  </a:lnTo>
                  <a:cubicBezTo>
                    <a:pt x="1854780" y="0"/>
                    <a:pt x="1881944" y="27165"/>
                    <a:pt x="1881944" y="60674"/>
                  </a:cubicBezTo>
                  <a:lnTo>
                    <a:pt x="1881944" y="2151761"/>
                  </a:lnTo>
                  <a:cubicBezTo>
                    <a:pt x="1881944" y="2185270"/>
                    <a:pt x="1854780" y="2212435"/>
                    <a:pt x="1821270" y="2212435"/>
                  </a:cubicBezTo>
                  <a:lnTo>
                    <a:pt x="60674" y="2212435"/>
                  </a:lnTo>
                  <a:cubicBezTo>
                    <a:pt x="27165" y="2212435"/>
                    <a:pt x="0" y="2185270"/>
                    <a:pt x="0" y="2151761"/>
                  </a:cubicBezTo>
                  <a:lnTo>
                    <a:pt x="0" y="60674"/>
                  </a:lnTo>
                  <a:cubicBezTo>
                    <a:pt x="0" y="27165"/>
                    <a:pt x="27165" y="0"/>
                    <a:pt x="60674" y="0"/>
                  </a:cubicBezTo>
                  <a:close/>
                </a:path>
              </a:pathLst>
            </a:custGeom>
            <a:gradFill rotWithShape="true">
              <a:gsLst>
                <a:gs pos="0">
                  <a:srgbClr val="000000">
                    <a:alpha val="78000"/>
                  </a:srgbClr>
                </a:gs>
                <a:gs pos="100000">
                  <a:srgbClr val="DDDDDD">
                    <a:alpha val="14820"/>
                  </a:srgbClr>
                </a:gs>
              </a:gsLst>
              <a:lin ang="2700000"/>
            </a:gradFill>
          </p:spPr>
        </p:sp>
        <p:sp>
          <p:nvSpPr>
            <p:cNvPr name="TextBox 4" id="4"/>
            <p:cNvSpPr txBox="true"/>
            <p:nvPr/>
          </p:nvSpPr>
          <p:spPr>
            <a:xfrm>
              <a:off x="0" y="-66675"/>
              <a:ext cx="1881944" cy="2279110"/>
            </a:xfrm>
            <a:prstGeom prst="rect">
              <a:avLst/>
            </a:prstGeom>
          </p:spPr>
          <p:txBody>
            <a:bodyPr anchor="ctr" rtlCol="false" tIns="50800" lIns="50800" bIns="50800" rIns="50800"/>
            <a:lstStyle/>
            <a:p>
              <a:pPr algn="ctr">
                <a:lnSpc>
                  <a:spcPts val="3151"/>
                </a:lnSpc>
              </a:pPr>
            </a:p>
          </p:txBody>
        </p:sp>
      </p:grpSp>
      <p:grpSp>
        <p:nvGrpSpPr>
          <p:cNvPr name="Group 5" id="5"/>
          <p:cNvGrpSpPr/>
          <p:nvPr/>
        </p:nvGrpSpPr>
        <p:grpSpPr>
          <a:xfrm rot="0">
            <a:off x="8661704" y="5143500"/>
            <a:ext cx="8825903" cy="4478464"/>
            <a:chOff x="0" y="0"/>
            <a:chExt cx="2324518" cy="1179513"/>
          </a:xfrm>
        </p:grpSpPr>
        <p:sp>
          <p:nvSpPr>
            <p:cNvPr name="Freeform 6" id="6"/>
            <p:cNvSpPr/>
            <p:nvPr/>
          </p:nvSpPr>
          <p:spPr>
            <a:xfrm flipH="false" flipV="false" rot="0">
              <a:off x="0" y="0"/>
              <a:ext cx="2324518" cy="1179513"/>
            </a:xfrm>
            <a:custGeom>
              <a:avLst/>
              <a:gdLst/>
              <a:ahLst/>
              <a:cxnLst/>
              <a:rect r="r" b="b" t="t" l="l"/>
              <a:pathLst>
                <a:path h="1179513" w="2324518">
                  <a:moveTo>
                    <a:pt x="36842" y="0"/>
                  </a:moveTo>
                  <a:lnTo>
                    <a:pt x="2287676" y="0"/>
                  </a:lnTo>
                  <a:cubicBezTo>
                    <a:pt x="2308023" y="0"/>
                    <a:pt x="2324518" y="16495"/>
                    <a:pt x="2324518" y="36842"/>
                  </a:cubicBezTo>
                  <a:lnTo>
                    <a:pt x="2324518" y="1142671"/>
                  </a:lnTo>
                  <a:cubicBezTo>
                    <a:pt x="2324518" y="1152442"/>
                    <a:pt x="2320636" y="1161813"/>
                    <a:pt x="2313727" y="1168722"/>
                  </a:cubicBezTo>
                  <a:cubicBezTo>
                    <a:pt x="2306818" y="1175632"/>
                    <a:pt x="2297447" y="1179513"/>
                    <a:pt x="2287676" y="1179513"/>
                  </a:cubicBezTo>
                  <a:lnTo>
                    <a:pt x="36842" y="1179513"/>
                  </a:lnTo>
                  <a:cubicBezTo>
                    <a:pt x="16495" y="1179513"/>
                    <a:pt x="0" y="1163019"/>
                    <a:pt x="0" y="1142671"/>
                  </a:cubicBezTo>
                  <a:lnTo>
                    <a:pt x="0" y="36842"/>
                  </a:lnTo>
                  <a:cubicBezTo>
                    <a:pt x="0" y="16495"/>
                    <a:pt x="16495" y="0"/>
                    <a:pt x="36842" y="0"/>
                  </a:cubicBezTo>
                  <a:close/>
                </a:path>
              </a:pathLst>
            </a:custGeom>
            <a:gradFill rotWithShape="true">
              <a:gsLst>
                <a:gs pos="0">
                  <a:srgbClr val="000F9B">
                    <a:alpha val="100000"/>
                  </a:srgbClr>
                </a:gs>
                <a:gs pos="50000">
                  <a:srgbClr val="EB0000">
                    <a:alpha val="100000"/>
                  </a:srgbClr>
                </a:gs>
                <a:gs pos="100000">
                  <a:srgbClr val="A000EB">
                    <a:alpha val="100000"/>
                  </a:srgbClr>
                </a:gs>
              </a:gsLst>
              <a:path path="circle">
                <a:fillToRect l="0" r="100000" t="0" b="100000"/>
              </a:path>
              <a:tileRect r="0" l="-100000" b="0" t="-100000"/>
            </a:gradFill>
          </p:spPr>
        </p:sp>
        <p:sp>
          <p:nvSpPr>
            <p:cNvPr name="TextBox 7" id="7"/>
            <p:cNvSpPr txBox="true"/>
            <p:nvPr/>
          </p:nvSpPr>
          <p:spPr>
            <a:xfrm>
              <a:off x="0" y="-66675"/>
              <a:ext cx="2324518" cy="1246188"/>
            </a:xfrm>
            <a:prstGeom prst="rect">
              <a:avLst/>
            </a:prstGeom>
          </p:spPr>
          <p:txBody>
            <a:bodyPr anchor="ctr" rtlCol="false" tIns="50800" lIns="50800" bIns="50800" rIns="50800"/>
            <a:lstStyle/>
            <a:p>
              <a:pPr algn="ctr">
                <a:lnSpc>
                  <a:spcPts val="3151"/>
                </a:lnSpc>
              </a:pPr>
            </a:p>
          </p:txBody>
        </p:sp>
      </p:grpSp>
      <p:grpSp>
        <p:nvGrpSpPr>
          <p:cNvPr name="Group 8" id="8"/>
          <p:cNvGrpSpPr/>
          <p:nvPr/>
        </p:nvGrpSpPr>
        <p:grpSpPr>
          <a:xfrm rot="0">
            <a:off x="8839504" y="408824"/>
            <a:ext cx="8825903" cy="3683429"/>
            <a:chOff x="0" y="0"/>
            <a:chExt cx="2324518" cy="970121"/>
          </a:xfrm>
        </p:grpSpPr>
        <p:sp>
          <p:nvSpPr>
            <p:cNvPr name="Freeform 9" id="9"/>
            <p:cNvSpPr/>
            <p:nvPr/>
          </p:nvSpPr>
          <p:spPr>
            <a:xfrm flipH="false" flipV="false" rot="0">
              <a:off x="0" y="0"/>
              <a:ext cx="2324518" cy="970121"/>
            </a:xfrm>
            <a:custGeom>
              <a:avLst/>
              <a:gdLst/>
              <a:ahLst/>
              <a:cxnLst/>
              <a:rect r="r" b="b" t="t" l="l"/>
              <a:pathLst>
                <a:path h="970121" w="2324518">
                  <a:moveTo>
                    <a:pt x="49122" y="0"/>
                  </a:moveTo>
                  <a:lnTo>
                    <a:pt x="2275395" y="0"/>
                  </a:lnTo>
                  <a:cubicBezTo>
                    <a:pt x="2288423" y="0"/>
                    <a:pt x="2300918" y="5175"/>
                    <a:pt x="2310130" y="14388"/>
                  </a:cubicBezTo>
                  <a:cubicBezTo>
                    <a:pt x="2319342" y="23600"/>
                    <a:pt x="2324518" y="36094"/>
                    <a:pt x="2324518" y="49122"/>
                  </a:cubicBezTo>
                  <a:lnTo>
                    <a:pt x="2324518" y="920999"/>
                  </a:lnTo>
                  <a:cubicBezTo>
                    <a:pt x="2324518" y="934027"/>
                    <a:pt x="2319342" y="946522"/>
                    <a:pt x="2310130" y="955734"/>
                  </a:cubicBezTo>
                  <a:cubicBezTo>
                    <a:pt x="2300918" y="964946"/>
                    <a:pt x="2288423" y="970121"/>
                    <a:pt x="2275395" y="970121"/>
                  </a:cubicBezTo>
                  <a:lnTo>
                    <a:pt x="49122" y="970121"/>
                  </a:lnTo>
                  <a:cubicBezTo>
                    <a:pt x="36094" y="970121"/>
                    <a:pt x="23600" y="964946"/>
                    <a:pt x="14388" y="955734"/>
                  </a:cubicBezTo>
                  <a:cubicBezTo>
                    <a:pt x="5175" y="946522"/>
                    <a:pt x="0" y="934027"/>
                    <a:pt x="0" y="920999"/>
                  </a:cubicBezTo>
                  <a:lnTo>
                    <a:pt x="0" y="49122"/>
                  </a:lnTo>
                  <a:cubicBezTo>
                    <a:pt x="0" y="36094"/>
                    <a:pt x="5175" y="23600"/>
                    <a:pt x="14388" y="14388"/>
                  </a:cubicBezTo>
                  <a:cubicBezTo>
                    <a:pt x="23600" y="5175"/>
                    <a:pt x="36094" y="0"/>
                    <a:pt x="49122" y="0"/>
                  </a:cubicBezTo>
                  <a:close/>
                </a:path>
              </a:pathLst>
            </a:custGeom>
            <a:solidFill>
              <a:srgbClr val="000000">
                <a:alpha val="0"/>
              </a:srgbClr>
            </a:solidFill>
            <a:ln w="28575" cap="rnd">
              <a:solidFill>
                <a:srgbClr val="FFFFFF"/>
              </a:solidFill>
              <a:prstDash val="solid"/>
              <a:round/>
            </a:ln>
          </p:spPr>
        </p:sp>
        <p:sp>
          <p:nvSpPr>
            <p:cNvPr name="TextBox 10" id="10"/>
            <p:cNvSpPr txBox="true"/>
            <p:nvPr/>
          </p:nvSpPr>
          <p:spPr>
            <a:xfrm>
              <a:off x="0" y="-66675"/>
              <a:ext cx="2324518" cy="1036796"/>
            </a:xfrm>
            <a:prstGeom prst="rect">
              <a:avLst/>
            </a:prstGeom>
          </p:spPr>
          <p:txBody>
            <a:bodyPr anchor="ctr" rtlCol="false" tIns="50800" lIns="50800" bIns="50800" rIns="50800"/>
            <a:lstStyle/>
            <a:p>
              <a:pPr algn="ctr">
                <a:lnSpc>
                  <a:spcPts val="3151"/>
                </a:lnSpc>
              </a:pPr>
            </a:p>
          </p:txBody>
        </p:sp>
      </p:grpSp>
      <p:sp>
        <p:nvSpPr>
          <p:cNvPr name="TextBox 11" id="11"/>
          <p:cNvSpPr txBox="true"/>
          <p:nvPr/>
        </p:nvSpPr>
        <p:spPr>
          <a:xfrm rot="0">
            <a:off x="1264766" y="1776544"/>
            <a:ext cx="6223947" cy="7696200"/>
          </a:xfrm>
          <a:prstGeom prst="rect">
            <a:avLst/>
          </a:prstGeom>
        </p:spPr>
        <p:txBody>
          <a:bodyPr anchor="t" rtlCol="false" tIns="0" lIns="0" bIns="0" rIns="0">
            <a:spAutoFit/>
          </a:bodyPr>
          <a:lstStyle/>
          <a:p>
            <a:pPr algn="just">
              <a:lnSpc>
                <a:spcPts val="4200"/>
              </a:lnSpc>
            </a:pPr>
            <a:r>
              <a:rPr lang="en-US" sz="3000" b="true">
                <a:solidFill>
                  <a:srgbClr val="FFFFFF"/>
                </a:solidFill>
                <a:latin typeface="Poppins Bold"/>
                <a:ea typeface="Poppins Bold"/>
                <a:cs typeface="Poppins Bold"/>
                <a:sym typeface="Poppins Bold"/>
              </a:rPr>
              <a:t>Hạn chế:</a:t>
            </a:r>
            <a:r>
              <a:rPr lang="en-US" sz="3000">
                <a:solidFill>
                  <a:srgbClr val="FFFFFF"/>
                </a:solidFill>
                <a:latin typeface="Poppins"/>
                <a:ea typeface="Poppins"/>
                <a:cs typeface="Poppins"/>
                <a:sym typeface="Poppins"/>
              </a:rPr>
              <a:t> Dữ liệu dừng lại ở số phim ít ỏi, hầu hết là phim cũ. Mô hình vẫn chưa có tỉ lệ cao</a:t>
            </a:r>
          </a:p>
          <a:p>
            <a:pPr algn="just">
              <a:lnSpc>
                <a:spcPts val="5940"/>
              </a:lnSpc>
            </a:pPr>
            <a:r>
              <a:rPr lang="en-US" sz="3000" b="true">
                <a:solidFill>
                  <a:srgbClr val="FFFFFF"/>
                </a:solidFill>
                <a:latin typeface="Poppins Bold"/>
                <a:ea typeface="Poppins Bold"/>
                <a:cs typeface="Poppins Bold"/>
                <a:sym typeface="Poppins Bold"/>
              </a:rPr>
              <a:t>Hướng phát triển:</a:t>
            </a:r>
          </a:p>
          <a:p>
            <a:pPr algn="just" marL="647700" indent="-323850" lvl="1">
              <a:lnSpc>
                <a:spcPts val="4200"/>
              </a:lnSpc>
              <a:buFont typeface="Arial"/>
              <a:buChar char="•"/>
            </a:pPr>
            <a:r>
              <a:rPr lang="en-US" sz="3000">
                <a:solidFill>
                  <a:srgbClr val="FFFFFF"/>
                </a:solidFill>
                <a:latin typeface="Poppins"/>
                <a:ea typeface="Poppins"/>
                <a:cs typeface="Poppins"/>
                <a:sym typeface="Poppins"/>
              </a:rPr>
              <a:t>Mở rộng Dataset với phim từ 2020-2025. </a:t>
            </a:r>
          </a:p>
          <a:p>
            <a:pPr algn="just" marL="647700" indent="-323850" lvl="1">
              <a:lnSpc>
                <a:spcPts val="4200"/>
              </a:lnSpc>
              <a:buFont typeface="Arial"/>
              <a:buChar char="•"/>
            </a:pPr>
            <a:r>
              <a:rPr lang="en-US" sz="3000">
                <a:solidFill>
                  <a:srgbClr val="FFFFFF"/>
                </a:solidFill>
                <a:latin typeface="Poppins"/>
                <a:ea typeface="Poppins"/>
                <a:cs typeface="Poppins"/>
                <a:sym typeface="Poppins"/>
              </a:rPr>
              <a:t>Kết hợp NLP để phân tích tóm tắt kịch bản (Plot summary) để tăng độ chính xác.</a:t>
            </a:r>
          </a:p>
          <a:p>
            <a:pPr algn="just" marL="647700" indent="-323850" lvl="1">
              <a:lnSpc>
                <a:spcPts val="4200"/>
              </a:lnSpc>
              <a:buFont typeface="Arial"/>
              <a:buChar char="•"/>
            </a:pPr>
            <a:r>
              <a:rPr lang="en-US" sz="3000">
                <a:solidFill>
                  <a:srgbClr val="FFFFFF"/>
                </a:solidFill>
                <a:latin typeface="Poppins"/>
                <a:ea typeface="Poppins"/>
                <a:cs typeface="Poppins"/>
                <a:sym typeface="Poppins"/>
              </a:rPr>
              <a:t>Tối ưu mô hình để ra kết quả tốt hơn (nếu có thể) hoặc tìm kiếm và xây dựng một mô hình mới chuyên về dự đoán tương lai</a:t>
            </a:r>
          </a:p>
        </p:txBody>
      </p:sp>
      <p:sp>
        <p:nvSpPr>
          <p:cNvPr name="TextBox 12" id="12"/>
          <p:cNvSpPr txBox="true"/>
          <p:nvPr/>
        </p:nvSpPr>
        <p:spPr>
          <a:xfrm rot="0">
            <a:off x="9665631" y="724080"/>
            <a:ext cx="6932349" cy="3249766"/>
          </a:xfrm>
          <a:prstGeom prst="rect">
            <a:avLst/>
          </a:prstGeom>
        </p:spPr>
        <p:txBody>
          <a:bodyPr anchor="t" rtlCol="false" tIns="0" lIns="0" bIns="0" rIns="0">
            <a:spAutoFit/>
          </a:bodyPr>
          <a:lstStyle/>
          <a:p>
            <a:pPr algn="just">
              <a:lnSpc>
                <a:spcPts val="8201"/>
              </a:lnSpc>
            </a:pPr>
            <a:r>
              <a:rPr lang="en-US" b="true" sz="8040" spc="-361">
                <a:solidFill>
                  <a:srgbClr val="FFFFFF"/>
                </a:solidFill>
                <a:latin typeface="Telegraf Bold"/>
                <a:ea typeface="Telegraf Bold"/>
                <a:cs typeface="Telegraf Bold"/>
                <a:sym typeface="Telegraf Bold"/>
              </a:rPr>
              <a:t>KẾT LUẬN VÀ HƯỚNG PHÁT TRIỂN </a:t>
            </a:r>
          </a:p>
        </p:txBody>
      </p:sp>
      <p:sp>
        <p:nvSpPr>
          <p:cNvPr name="TextBox 13" id="13"/>
          <p:cNvSpPr txBox="true"/>
          <p:nvPr/>
        </p:nvSpPr>
        <p:spPr>
          <a:xfrm rot="0">
            <a:off x="8934608" y="5869748"/>
            <a:ext cx="8280096" cy="3879215"/>
          </a:xfrm>
          <a:prstGeom prst="rect">
            <a:avLst/>
          </a:prstGeom>
        </p:spPr>
        <p:txBody>
          <a:bodyPr anchor="t" rtlCol="false" tIns="0" lIns="0" bIns="0" rIns="0">
            <a:spAutoFit/>
          </a:bodyPr>
          <a:lstStyle/>
          <a:p>
            <a:pPr algn="just">
              <a:lnSpc>
                <a:spcPts val="6159"/>
              </a:lnSpc>
            </a:pPr>
            <a:r>
              <a:rPr lang="en-US" sz="4399" spc="-193">
                <a:solidFill>
                  <a:srgbClr val="FFFFFF"/>
                </a:solidFill>
                <a:latin typeface="Open Sauce"/>
                <a:ea typeface="Open Sauce"/>
                <a:cs typeface="Open Sauce"/>
                <a:sym typeface="Open Sauce"/>
              </a:rPr>
              <a:t>Kết luận: Đã xây dựng thành công công cụ hỗ trợ nhà đầu tư với độ tin cậy khoa học, khắc phục sai lầm của các mô hình cũ.</a:t>
            </a:r>
          </a:p>
          <a:p>
            <a:pPr algn="just">
              <a:lnSpc>
                <a:spcPts val="6159"/>
              </a:lnSpc>
            </a:pPr>
          </a:p>
        </p:txBody>
      </p:sp>
      <p:grpSp>
        <p:nvGrpSpPr>
          <p:cNvPr name="Group 14" id="14"/>
          <p:cNvGrpSpPr/>
          <p:nvPr/>
        </p:nvGrpSpPr>
        <p:grpSpPr>
          <a:xfrm rot="0">
            <a:off x="1028700" y="1416583"/>
            <a:ext cx="839377" cy="245713"/>
            <a:chOff x="0" y="0"/>
            <a:chExt cx="1119170" cy="327618"/>
          </a:xfrm>
        </p:grpSpPr>
        <p:grpSp>
          <p:nvGrpSpPr>
            <p:cNvPr name="Group 15" id="15"/>
            <p:cNvGrpSpPr/>
            <p:nvPr/>
          </p:nvGrpSpPr>
          <p:grpSpPr>
            <a:xfrm rot="0">
              <a:off x="0" y="0"/>
              <a:ext cx="327618" cy="327618"/>
              <a:chOff x="0" y="0"/>
              <a:chExt cx="812800" cy="812800"/>
            </a:xfrm>
          </p:grpSpPr>
          <p:sp>
            <p:nvSpPr>
              <p:cNvPr name="Freeform 16" id="1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5757"/>
              </a:solidFill>
            </p:spPr>
          </p:sp>
          <p:sp>
            <p:nvSpPr>
              <p:cNvPr name="TextBox 17" id="17"/>
              <p:cNvSpPr txBox="true"/>
              <p:nvPr/>
            </p:nvSpPr>
            <p:spPr>
              <a:xfrm>
                <a:off x="76200" y="9525"/>
                <a:ext cx="660400" cy="727075"/>
              </a:xfrm>
              <a:prstGeom prst="rect">
                <a:avLst/>
              </a:prstGeom>
            </p:spPr>
            <p:txBody>
              <a:bodyPr anchor="ctr" rtlCol="false" tIns="56813" lIns="56813" bIns="56813" rIns="56813"/>
              <a:lstStyle/>
              <a:p>
                <a:pPr algn="ctr">
                  <a:lnSpc>
                    <a:spcPts val="3151"/>
                  </a:lnSpc>
                </a:pPr>
              </a:p>
            </p:txBody>
          </p:sp>
        </p:grpSp>
        <p:grpSp>
          <p:nvGrpSpPr>
            <p:cNvPr name="Group 18" id="18"/>
            <p:cNvGrpSpPr/>
            <p:nvPr/>
          </p:nvGrpSpPr>
          <p:grpSpPr>
            <a:xfrm rot="0">
              <a:off x="398109" y="0"/>
              <a:ext cx="327618" cy="327618"/>
              <a:chOff x="0" y="0"/>
              <a:chExt cx="812800" cy="812800"/>
            </a:xfrm>
          </p:grpSpPr>
          <p:sp>
            <p:nvSpPr>
              <p:cNvPr name="Freeform 19" id="1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DE59"/>
              </a:solidFill>
            </p:spPr>
          </p:sp>
          <p:sp>
            <p:nvSpPr>
              <p:cNvPr name="TextBox 20" id="20"/>
              <p:cNvSpPr txBox="true"/>
              <p:nvPr/>
            </p:nvSpPr>
            <p:spPr>
              <a:xfrm>
                <a:off x="76200" y="9525"/>
                <a:ext cx="660400" cy="727075"/>
              </a:xfrm>
              <a:prstGeom prst="rect">
                <a:avLst/>
              </a:prstGeom>
            </p:spPr>
            <p:txBody>
              <a:bodyPr anchor="ctr" rtlCol="false" tIns="56813" lIns="56813" bIns="56813" rIns="56813"/>
              <a:lstStyle/>
              <a:p>
                <a:pPr algn="ctr">
                  <a:lnSpc>
                    <a:spcPts val="3151"/>
                  </a:lnSpc>
                </a:pPr>
              </a:p>
            </p:txBody>
          </p:sp>
        </p:grpSp>
        <p:grpSp>
          <p:nvGrpSpPr>
            <p:cNvPr name="Group 21" id="21"/>
            <p:cNvGrpSpPr/>
            <p:nvPr/>
          </p:nvGrpSpPr>
          <p:grpSpPr>
            <a:xfrm rot="0">
              <a:off x="791552" y="0"/>
              <a:ext cx="327618" cy="327618"/>
              <a:chOff x="0" y="0"/>
              <a:chExt cx="812800" cy="812800"/>
            </a:xfrm>
          </p:grpSpPr>
          <p:sp>
            <p:nvSpPr>
              <p:cNvPr name="Freeform 22" id="22"/>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7ED957"/>
              </a:solidFill>
            </p:spPr>
          </p:sp>
          <p:sp>
            <p:nvSpPr>
              <p:cNvPr name="TextBox 23" id="23"/>
              <p:cNvSpPr txBox="true"/>
              <p:nvPr/>
            </p:nvSpPr>
            <p:spPr>
              <a:xfrm>
                <a:off x="76200" y="9525"/>
                <a:ext cx="660400" cy="727075"/>
              </a:xfrm>
              <a:prstGeom prst="rect">
                <a:avLst/>
              </a:prstGeom>
            </p:spPr>
            <p:txBody>
              <a:bodyPr anchor="ctr" rtlCol="false" tIns="56813" lIns="56813" bIns="56813" rIns="56813"/>
              <a:lstStyle/>
              <a:p>
                <a:pPr algn="ctr">
                  <a:lnSpc>
                    <a:spcPts val="3151"/>
                  </a:lnSpc>
                </a:pPr>
              </a:p>
            </p:txBody>
          </p:sp>
        </p:grpSp>
      </p:grpSp>
      <p:grpSp>
        <p:nvGrpSpPr>
          <p:cNvPr name="Group 24" id="24"/>
          <p:cNvGrpSpPr/>
          <p:nvPr/>
        </p:nvGrpSpPr>
        <p:grpSpPr>
          <a:xfrm rot="0">
            <a:off x="8839504" y="5421794"/>
            <a:ext cx="839377" cy="245713"/>
            <a:chOff x="0" y="0"/>
            <a:chExt cx="1119170" cy="327618"/>
          </a:xfrm>
        </p:grpSpPr>
        <p:grpSp>
          <p:nvGrpSpPr>
            <p:cNvPr name="Group 25" id="25"/>
            <p:cNvGrpSpPr/>
            <p:nvPr/>
          </p:nvGrpSpPr>
          <p:grpSpPr>
            <a:xfrm rot="0">
              <a:off x="0" y="0"/>
              <a:ext cx="327618" cy="327618"/>
              <a:chOff x="0" y="0"/>
              <a:chExt cx="812800" cy="812800"/>
            </a:xfrm>
          </p:grpSpPr>
          <p:sp>
            <p:nvSpPr>
              <p:cNvPr name="Freeform 26" id="2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5757"/>
              </a:solidFill>
            </p:spPr>
          </p:sp>
          <p:sp>
            <p:nvSpPr>
              <p:cNvPr name="TextBox 27" id="27"/>
              <p:cNvSpPr txBox="true"/>
              <p:nvPr/>
            </p:nvSpPr>
            <p:spPr>
              <a:xfrm>
                <a:off x="76200" y="9525"/>
                <a:ext cx="660400" cy="727075"/>
              </a:xfrm>
              <a:prstGeom prst="rect">
                <a:avLst/>
              </a:prstGeom>
            </p:spPr>
            <p:txBody>
              <a:bodyPr anchor="ctr" rtlCol="false" tIns="56813" lIns="56813" bIns="56813" rIns="56813"/>
              <a:lstStyle/>
              <a:p>
                <a:pPr algn="ctr">
                  <a:lnSpc>
                    <a:spcPts val="3151"/>
                  </a:lnSpc>
                </a:pPr>
              </a:p>
            </p:txBody>
          </p:sp>
        </p:grpSp>
        <p:grpSp>
          <p:nvGrpSpPr>
            <p:cNvPr name="Group 28" id="28"/>
            <p:cNvGrpSpPr/>
            <p:nvPr/>
          </p:nvGrpSpPr>
          <p:grpSpPr>
            <a:xfrm rot="0">
              <a:off x="398109" y="0"/>
              <a:ext cx="327618" cy="327618"/>
              <a:chOff x="0" y="0"/>
              <a:chExt cx="812800" cy="812800"/>
            </a:xfrm>
          </p:grpSpPr>
          <p:sp>
            <p:nvSpPr>
              <p:cNvPr name="Freeform 29" id="2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DE59"/>
              </a:solidFill>
            </p:spPr>
          </p:sp>
          <p:sp>
            <p:nvSpPr>
              <p:cNvPr name="TextBox 30" id="30"/>
              <p:cNvSpPr txBox="true"/>
              <p:nvPr/>
            </p:nvSpPr>
            <p:spPr>
              <a:xfrm>
                <a:off x="76200" y="9525"/>
                <a:ext cx="660400" cy="727075"/>
              </a:xfrm>
              <a:prstGeom prst="rect">
                <a:avLst/>
              </a:prstGeom>
            </p:spPr>
            <p:txBody>
              <a:bodyPr anchor="ctr" rtlCol="false" tIns="56813" lIns="56813" bIns="56813" rIns="56813"/>
              <a:lstStyle/>
              <a:p>
                <a:pPr algn="ctr">
                  <a:lnSpc>
                    <a:spcPts val="3151"/>
                  </a:lnSpc>
                </a:pPr>
              </a:p>
            </p:txBody>
          </p:sp>
        </p:grpSp>
        <p:grpSp>
          <p:nvGrpSpPr>
            <p:cNvPr name="Group 31" id="31"/>
            <p:cNvGrpSpPr/>
            <p:nvPr/>
          </p:nvGrpSpPr>
          <p:grpSpPr>
            <a:xfrm rot="0">
              <a:off x="791552" y="0"/>
              <a:ext cx="327618" cy="327618"/>
              <a:chOff x="0" y="0"/>
              <a:chExt cx="812800" cy="812800"/>
            </a:xfrm>
          </p:grpSpPr>
          <p:sp>
            <p:nvSpPr>
              <p:cNvPr name="Freeform 32" id="32"/>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7ED957"/>
              </a:solidFill>
            </p:spPr>
          </p:sp>
          <p:sp>
            <p:nvSpPr>
              <p:cNvPr name="TextBox 33" id="33"/>
              <p:cNvSpPr txBox="true"/>
              <p:nvPr/>
            </p:nvSpPr>
            <p:spPr>
              <a:xfrm>
                <a:off x="76200" y="9525"/>
                <a:ext cx="660400" cy="727075"/>
              </a:xfrm>
              <a:prstGeom prst="rect">
                <a:avLst/>
              </a:prstGeom>
            </p:spPr>
            <p:txBody>
              <a:bodyPr anchor="ctr" rtlCol="false" tIns="56813" lIns="56813" bIns="56813" rIns="56813"/>
              <a:lstStyle/>
              <a:p>
                <a:pPr algn="ctr">
                  <a:lnSpc>
                    <a:spcPts val="3151"/>
                  </a:lnSpc>
                </a:pPr>
              </a:p>
            </p:txBody>
          </p:sp>
        </p:grpSp>
      </p:gr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00000">
                <a:alpha val="100000"/>
              </a:srgbClr>
            </a:gs>
            <a:gs pos="100000">
              <a:srgbClr val="09033D">
                <a:alpha val="100000"/>
              </a:srgbClr>
            </a:gs>
          </a:gsLst>
          <a:path path="circle">
            <a:fillToRect l="0" r="100000" t="0" b="100000"/>
          </a:path>
          <a:tileRect r="0" l="-100000" b="0" t="-100000"/>
        </a:gradFill>
      </p:bgPr>
    </p:bg>
    <p:spTree>
      <p:nvGrpSpPr>
        <p:cNvPr id="1" name=""/>
        <p:cNvGrpSpPr/>
        <p:nvPr/>
      </p:nvGrpSpPr>
      <p:grpSpPr>
        <a:xfrm>
          <a:off x="0" y="0"/>
          <a:ext cx="0" cy="0"/>
          <a:chOff x="0" y="0"/>
          <a:chExt cx="0" cy="0"/>
        </a:xfrm>
      </p:grpSpPr>
      <p:grpSp>
        <p:nvGrpSpPr>
          <p:cNvPr name="Group 2" id="2"/>
          <p:cNvGrpSpPr/>
          <p:nvPr/>
        </p:nvGrpSpPr>
        <p:grpSpPr>
          <a:xfrm rot="0">
            <a:off x="296111" y="349538"/>
            <a:ext cx="17695777" cy="9587924"/>
            <a:chOff x="0" y="0"/>
            <a:chExt cx="4660616" cy="2525215"/>
          </a:xfrm>
        </p:grpSpPr>
        <p:sp>
          <p:nvSpPr>
            <p:cNvPr name="Freeform 3" id="3"/>
            <p:cNvSpPr/>
            <p:nvPr/>
          </p:nvSpPr>
          <p:spPr>
            <a:xfrm flipH="false" flipV="false" rot="0">
              <a:off x="0" y="0"/>
              <a:ext cx="4660616" cy="2525215"/>
            </a:xfrm>
            <a:custGeom>
              <a:avLst/>
              <a:gdLst/>
              <a:ahLst/>
              <a:cxnLst/>
              <a:rect r="r" b="b" t="t" l="l"/>
              <a:pathLst>
                <a:path h="2525215" w="4660616">
                  <a:moveTo>
                    <a:pt x="24500" y="0"/>
                  </a:moveTo>
                  <a:lnTo>
                    <a:pt x="4636116" y="0"/>
                  </a:lnTo>
                  <a:cubicBezTo>
                    <a:pt x="4649647" y="0"/>
                    <a:pt x="4660616" y="10969"/>
                    <a:pt x="4660616" y="24500"/>
                  </a:cubicBezTo>
                  <a:lnTo>
                    <a:pt x="4660616" y="2500715"/>
                  </a:lnTo>
                  <a:cubicBezTo>
                    <a:pt x="4660616" y="2507212"/>
                    <a:pt x="4658035" y="2513444"/>
                    <a:pt x="4653440" y="2518039"/>
                  </a:cubicBezTo>
                  <a:cubicBezTo>
                    <a:pt x="4648846" y="2522633"/>
                    <a:pt x="4642614" y="2525215"/>
                    <a:pt x="4636116" y="2525215"/>
                  </a:cubicBezTo>
                  <a:lnTo>
                    <a:pt x="24500" y="2525215"/>
                  </a:lnTo>
                  <a:cubicBezTo>
                    <a:pt x="10969" y="2525215"/>
                    <a:pt x="0" y="2514246"/>
                    <a:pt x="0" y="2500715"/>
                  </a:cubicBezTo>
                  <a:lnTo>
                    <a:pt x="0" y="24500"/>
                  </a:lnTo>
                  <a:cubicBezTo>
                    <a:pt x="0" y="10969"/>
                    <a:pt x="10969" y="0"/>
                    <a:pt x="24500" y="0"/>
                  </a:cubicBezTo>
                  <a:close/>
                </a:path>
              </a:pathLst>
            </a:custGeom>
            <a:solidFill>
              <a:srgbClr val="FFFFFF">
                <a:alpha val="21961"/>
              </a:srgbClr>
            </a:solidFill>
          </p:spPr>
        </p:sp>
        <p:sp>
          <p:nvSpPr>
            <p:cNvPr name="TextBox 4" id="4"/>
            <p:cNvSpPr txBox="true"/>
            <p:nvPr/>
          </p:nvSpPr>
          <p:spPr>
            <a:xfrm>
              <a:off x="0" y="-38100"/>
              <a:ext cx="4660616" cy="2563315"/>
            </a:xfrm>
            <a:prstGeom prst="rect">
              <a:avLst/>
            </a:prstGeom>
          </p:spPr>
          <p:txBody>
            <a:bodyPr anchor="ctr" rtlCol="false" tIns="50800" lIns="50800" bIns="50800" rIns="50800"/>
            <a:lstStyle/>
            <a:p>
              <a:pPr algn="ctr">
                <a:lnSpc>
                  <a:spcPts val="2659"/>
                </a:lnSpc>
                <a:spcBef>
                  <a:spcPct val="0"/>
                </a:spcBef>
              </a:pPr>
            </a:p>
          </p:txBody>
        </p:sp>
      </p:grpSp>
      <p:sp>
        <p:nvSpPr>
          <p:cNvPr name="Freeform 5" id="5"/>
          <p:cNvSpPr/>
          <p:nvPr/>
        </p:nvSpPr>
        <p:spPr>
          <a:xfrm flipH="false" flipV="false" rot="0">
            <a:off x="803986" y="803986"/>
            <a:ext cx="449429" cy="449429"/>
          </a:xfrm>
          <a:custGeom>
            <a:avLst/>
            <a:gdLst/>
            <a:ahLst/>
            <a:cxnLst/>
            <a:rect r="r" b="b" t="t" l="l"/>
            <a:pathLst>
              <a:path h="449429" w="449429">
                <a:moveTo>
                  <a:pt x="0" y="0"/>
                </a:moveTo>
                <a:lnTo>
                  <a:pt x="449428" y="0"/>
                </a:lnTo>
                <a:lnTo>
                  <a:pt x="449428" y="449428"/>
                </a:lnTo>
                <a:lnTo>
                  <a:pt x="0" y="44942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6" id="6"/>
          <p:cNvSpPr txBox="true"/>
          <p:nvPr/>
        </p:nvSpPr>
        <p:spPr>
          <a:xfrm rot="0">
            <a:off x="3054412" y="3687473"/>
            <a:ext cx="12179177" cy="2502478"/>
          </a:xfrm>
          <a:prstGeom prst="rect">
            <a:avLst/>
          </a:prstGeom>
        </p:spPr>
        <p:txBody>
          <a:bodyPr anchor="t" rtlCol="false" tIns="0" lIns="0" bIns="0" rIns="0">
            <a:spAutoFit/>
          </a:bodyPr>
          <a:lstStyle/>
          <a:p>
            <a:pPr algn="ctr">
              <a:lnSpc>
                <a:spcPts val="19302"/>
              </a:lnSpc>
              <a:spcBef>
                <a:spcPct val="0"/>
              </a:spcBef>
            </a:pPr>
            <a:r>
              <a:rPr lang="en-US" b="true" sz="13787" spc="-620">
                <a:solidFill>
                  <a:srgbClr val="FFFFFF"/>
                </a:solidFill>
                <a:latin typeface="Telegraf Bold"/>
                <a:ea typeface="Telegraf Bold"/>
                <a:cs typeface="Telegraf Bold"/>
                <a:sym typeface="Telegraf Bold"/>
              </a:rPr>
              <a:t>Thank You</a:t>
            </a:r>
          </a:p>
        </p:txBody>
      </p:sp>
      <p:sp>
        <p:nvSpPr>
          <p:cNvPr name="TextBox 7" id="7"/>
          <p:cNvSpPr txBox="true"/>
          <p:nvPr/>
        </p:nvSpPr>
        <p:spPr>
          <a:xfrm rot="0">
            <a:off x="1363845" y="768097"/>
            <a:ext cx="2685498" cy="445006"/>
          </a:xfrm>
          <a:prstGeom prst="rect">
            <a:avLst/>
          </a:prstGeom>
        </p:spPr>
        <p:txBody>
          <a:bodyPr anchor="t" rtlCol="false" tIns="0" lIns="0" bIns="0" rIns="0">
            <a:spAutoFit/>
          </a:bodyPr>
          <a:lstStyle/>
          <a:p>
            <a:pPr algn="l">
              <a:lnSpc>
                <a:spcPts val="3391"/>
              </a:lnSpc>
              <a:spcBef>
                <a:spcPct val="0"/>
              </a:spcBef>
            </a:pPr>
            <a:r>
              <a:rPr lang="en-US" b="true" sz="2422" spc="-109">
                <a:solidFill>
                  <a:srgbClr val="FFFFFF"/>
                </a:solidFill>
                <a:latin typeface="Telegraf Bold"/>
                <a:ea typeface="Telegraf Bold"/>
                <a:cs typeface="Telegraf Bold"/>
                <a:sym typeface="Telegraf Bold"/>
              </a:rPr>
              <a:t>Movies Predict </a:t>
            </a:r>
          </a:p>
        </p:txBody>
      </p:sp>
      <p:sp>
        <p:nvSpPr>
          <p:cNvPr name="TextBox 8" id="8"/>
          <p:cNvSpPr txBox="true"/>
          <p:nvPr/>
        </p:nvSpPr>
        <p:spPr>
          <a:xfrm rot="0">
            <a:off x="1005489" y="8994425"/>
            <a:ext cx="4747340" cy="451551"/>
          </a:xfrm>
          <a:prstGeom prst="rect">
            <a:avLst/>
          </a:prstGeom>
        </p:spPr>
        <p:txBody>
          <a:bodyPr anchor="t" rtlCol="false" tIns="0" lIns="0" bIns="0" rIns="0">
            <a:spAutoFit/>
          </a:bodyPr>
          <a:lstStyle/>
          <a:p>
            <a:pPr algn="l">
              <a:lnSpc>
                <a:spcPts val="3461"/>
              </a:lnSpc>
            </a:pPr>
            <a:r>
              <a:rPr lang="en-US" sz="2472">
                <a:solidFill>
                  <a:srgbClr val="FFFFFF"/>
                </a:solidFill>
                <a:latin typeface="Poppins"/>
                <a:ea typeface="Poppins"/>
                <a:cs typeface="Poppins"/>
                <a:sym typeface="Poppins"/>
              </a:rPr>
              <a:t>Nhóm 04 - Đồ Án 1  </a:t>
            </a:r>
          </a:p>
        </p:txBody>
      </p:sp>
      <p:sp>
        <p:nvSpPr>
          <p:cNvPr name="TextBox 9" id="9"/>
          <p:cNvSpPr txBox="true"/>
          <p:nvPr/>
        </p:nvSpPr>
        <p:spPr>
          <a:xfrm rot="0">
            <a:off x="10886360" y="8994425"/>
            <a:ext cx="6665040" cy="451551"/>
          </a:xfrm>
          <a:prstGeom prst="rect">
            <a:avLst/>
          </a:prstGeom>
        </p:spPr>
        <p:txBody>
          <a:bodyPr anchor="t" rtlCol="false" tIns="0" lIns="0" bIns="0" rIns="0">
            <a:spAutoFit/>
          </a:bodyPr>
          <a:lstStyle/>
          <a:p>
            <a:pPr algn="r">
              <a:lnSpc>
                <a:spcPts val="3461"/>
              </a:lnSpc>
            </a:pPr>
            <a:r>
              <a:rPr lang="en-US" sz="2472">
                <a:solidFill>
                  <a:srgbClr val="FFFFFF"/>
                </a:solidFill>
                <a:latin typeface="Poppins"/>
                <a:ea typeface="Poppins"/>
                <a:cs typeface="Poppins"/>
                <a:sym typeface="Poppins"/>
              </a:rPr>
              <a:t>Dự Đoán Tỉ Lệ Thành Công Của Phim</a:t>
            </a:r>
          </a:p>
        </p:txBody>
      </p:sp>
      <p:sp>
        <p:nvSpPr>
          <p:cNvPr name="TextBox 10" id="10"/>
          <p:cNvSpPr txBox="true"/>
          <p:nvPr/>
        </p:nvSpPr>
        <p:spPr>
          <a:xfrm rot="0">
            <a:off x="9144000" y="841660"/>
            <a:ext cx="1662550" cy="409541"/>
          </a:xfrm>
          <a:prstGeom prst="rect">
            <a:avLst/>
          </a:prstGeom>
        </p:spPr>
        <p:txBody>
          <a:bodyPr anchor="t" rtlCol="false" tIns="0" lIns="0" bIns="0" rIns="0">
            <a:spAutoFit/>
          </a:bodyPr>
          <a:lstStyle/>
          <a:p>
            <a:pPr algn="r" marL="0" indent="0" lvl="0">
              <a:lnSpc>
                <a:spcPts val="3151"/>
              </a:lnSpc>
              <a:spcBef>
                <a:spcPct val="0"/>
              </a:spcBef>
            </a:pPr>
            <a:r>
              <a:rPr lang="en-US" sz="2251">
                <a:solidFill>
                  <a:srgbClr val="FFFFFF"/>
                </a:solidFill>
                <a:latin typeface="Poppins"/>
                <a:ea typeface="Poppins"/>
                <a:cs typeface="Poppins"/>
                <a:sym typeface="Poppins"/>
              </a:rPr>
              <a:t>Dự Đoán</a:t>
            </a:r>
          </a:p>
        </p:txBody>
      </p:sp>
      <p:sp>
        <p:nvSpPr>
          <p:cNvPr name="TextBox 11" id="11"/>
          <p:cNvSpPr txBox="true"/>
          <p:nvPr/>
        </p:nvSpPr>
        <p:spPr>
          <a:xfrm rot="0">
            <a:off x="11408122" y="843874"/>
            <a:ext cx="1907082" cy="409541"/>
          </a:xfrm>
          <a:prstGeom prst="rect">
            <a:avLst/>
          </a:prstGeom>
        </p:spPr>
        <p:txBody>
          <a:bodyPr anchor="t" rtlCol="false" tIns="0" lIns="0" bIns="0" rIns="0">
            <a:spAutoFit/>
          </a:bodyPr>
          <a:lstStyle/>
          <a:p>
            <a:pPr algn="ctr" marL="0" indent="0" lvl="0">
              <a:lnSpc>
                <a:spcPts val="3151"/>
              </a:lnSpc>
              <a:spcBef>
                <a:spcPct val="0"/>
              </a:spcBef>
            </a:pPr>
            <a:r>
              <a:rPr lang="en-US" sz="2251">
                <a:solidFill>
                  <a:srgbClr val="FFFFFF"/>
                </a:solidFill>
                <a:latin typeface="Poppins"/>
                <a:ea typeface="Poppins"/>
                <a:cs typeface="Poppins"/>
                <a:sym typeface="Poppins"/>
              </a:rPr>
              <a:t>Xu Hướng </a:t>
            </a:r>
          </a:p>
        </p:txBody>
      </p:sp>
      <p:sp>
        <p:nvSpPr>
          <p:cNvPr name="TextBox 12" id="12"/>
          <p:cNvSpPr txBox="true"/>
          <p:nvPr/>
        </p:nvSpPr>
        <p:spPr>
          <a:xfrm rot="0">
            <a:off x="13726729" y="819695"/>
            <a:ext cx="1916881" cy="409541"/>
          </a:xfrm>
          <a:prstGeom prst="rect">
            <a:avLst/>
          </a:prstGeom>
        </p:spPr>
        <p:txBody>
          <a:bodyPr anchor="t" rtlCol="false" tIns="0" lIns="0" bIns="0" rIns="0">
            <a:spAutoFit/>
          </a:bodyPr>
          <a:lstStyle/>
          <a:p>
            <a:pPr algn="ctr" marL="0" indent="0" lvl="0">
              <a:lnSpc>
                <a:spcPts val="3151"/>
              </a:lnSpc>
              <a:spcBef>
                <a:spcPct val="0"/>
              </a:spcBef>
            </a:pPr>
            <a:r>
              <a:rPr lang="en-US" sz="2251">
                <a:solidFill>
                  <a:srgbClr val="FFFFFF"/>
                </a:solidFill>
                <a:latin typeface="Poppins"/>
                <a:ea typeface="Poppins"/>
                <a:cs typeface="Poppins"/>
                <a:sym typeface="Poppins"/>
              </a:rPr>
              <a:t>Insight </a:t>
            </a:r>
          </a:p>
        </p:txBody>
      </p:sp>
      <p:sp>
        <p:nvSpPr>
          <p:cNvPr name="TextBox 13" id="13"/>
          <p:cNvSpPr txBox="true"/>
          <p:nvPr/>
        </p:nvSpPr>
        <p:spPr>
          <a:xfrm rot="0">
            <a:off x="15034325" y="841660"/>
            <a:ext cx="2224975" cy="809591"/>
          </a:xfrm>
          <a:prstGeom prst="rect">
            <a:avLst/>
          </a:prstGeom>
        </p:spPr>
        <p:txBody>
          <a:bodyPr anchor="t" rtlCol="false" tIns="0" lIns="0" bIns="0" rIns="0">
            <a:spAutoFit/>
          </a:bodyPr>
          <a:lstStyle/>
          <a:p>
            <a:pPr algn="r" marL="0" indent="0" lvl="0">
              <a:lnSpc>
                <a:spcPts val="3151"/>
              </a:lnSpc>
              <a:spcBef>
                <a:spcPct val="0"/>
              </a:spcBef>
            </a:pPr>
            <a:r>
              <a:rPr lang="en-US" b="true" sz="2251">
                <a:solidFill>
                  <a:srgbClr val="FFFFFF"/>
                </a:solidFill>
                <a:latin typeface="Poppins Bold"/>
                <a:ea typeface="Poppins Bold"/>
                <a:cs typeface="Poppins Bold"/>
                <a:sym typeface="Poppins Bold"/>
              </a:rPr>
              <a:t>Thanks for watching</a:t>
            </a:r>
          </a:p>
        </p:txBody>
      </p:sp>
      <p:grpSp>
        <p:nvGrpSpPr>
          <p:cNvPr name="Group 14" id="14"/>
          <p:cNvGrpSpPr/>
          <p:nvPr/>
        </p:nvGrpSpPr>
        <p:grpSpPr>
          <a:xfrm rot="0">
            <a:off x="585801" y="476783"/>
            <a:ext cx="839377" cy="245713"/>
            <a:chOff x="0" y="0"/>
            <a:chExt cx="1119170" cy="327618"/>
          </a:xfrm>
        </p:grpSpPr>
        <p:grpSp>
          <p:nvGrpSpPr>
            <p:cNvPr name="Group 15" id="15"/>
            <p:cNvGrpSpPr/>
            <p:nvPr/>
          </p:nvGrpSpPr>
          <p:grpSpPr>
            <a:xfrm rot="0">
              <a:off x="0" y="0"/>
              <a:ext cx="327618" cy="327618"/>
              <a:chOff x="0" y="0"/>
              <a:chExt cx="812800" cy="812800"/>
            </a:xfrm>
          </p:grpSpPr>
          <p:sp>
            <p:nvSpPr>
              <p:cNvPr name="Freeform 16" id="1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5757"/>
              </a:solidFill>
            </p:spPr>
          </p:sp>
          <p:sp>
            <p:nvSpPr>
              <p:cNvPr name="TextBox 17" id="17"/>
              <p:cNvSpPr txBox="true"/>
              <p:nvPr/>
            </p:nvSpPr>
            <p:spPr>
              <a:xfrm>
                <a:off x="76200" y="9525"/>
                <a:ext cx="660400" cy="727075"/>
              </a:xfrm>
              <a:prstGeom prst="rect">
                <a:avLst/>
              </a:prstGeom>
            </p:spPr>
            <p:txBody>
              <a:bodyPr anchor="ctr" rtlCol="false" tIns="56813" lIns="56813" bIns="56813" rIns="56813"/>
              <a:lstStyle/>
              <a:p>
                <a:pPr algn="ctr">
                  <a:lnSpc>
                    <a:spcPts val="3151"/>
                  </a:lnSpc>
                </a:pPr>
              </a:p>
            </p:txBody>
          </p:sp>
        </p:grpSp>
        <p:grpSp>
          <p:nvGrpSpPr>
            <p:cNvPr name="Group 18" id="18"/>
            <p:cNvGrpSpPr/>
            <p:nvPr/>
          </p:nvGrpSpPr>
          <p:grpSpPr>
            <a:xfrm rot="0">
              <a:off x="398109" y="0"/>
              <a:ext cx="327618" cy="327618"/>
              <a:chOff x="0" y="0"/>
              <a:chExt cx="812800" cy="812800"/>
            </a:xfrm>
          </p:grpSpPr>
          <p:sp>
            <p:nvSpPr>
              <p:cNvPr name="Freeform 19" id="1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DE59"/>
              </a:solidFill>
            </p:spPr>
          </p:sp>
          <p:sp>
            <p:nvSpPr>
              <p:cNvPr name="TextBox 20" id="20"/>
              <p:cNvSpPr txBox="true"/>
              <p:nvPr/>
            </p:nvSpPr>
            <p:spPr>
              <a:xfrm>
                <a:off x="76200" y="9525"/>
                <a:ext cx="660400" cy="727075"/>
              </a:xfrm>
              <a:prstGeom prst="rect">
                <a:avLst/>
              </a:prstGeom>
            </p:spPr>
            <p:txBody>
              <a:bodyPr anchor="ctr" rtlCol="false" tIns="56813" lIns="56813" bIns="56813" rIns="56813"/>
              <a:lstStyle/>
              <a:p>
                <a:pPr algn="ctr">
                  <a:lnSpc>
                    <a:spcPts val="3151"/>
                  </a:lnSpc>
                </a:pPr>
              </a:p>
            </p:txBody>
          </p:sp>
        </p:grpSp>
        <p:grpSp>
          <p:nvGrpSpPr>
            <p:cNvPr name="Group 21" id="21"/>
            <p:cNvGrpSpPr/>
            <p:nvPr/>
          </p:nvGrpSpPr>
          <p:grpSpPr>
            <a:xfrm rot="0">
              <a:off x="791552" y="0"/>
              <a:ext cx="327618" cy="327618"/>
              <a:chOff x="0" y="0"/>
              <a:chExt cx="812800" cy="812800"/>
            </a:xfrm>
          </p:grpSpPr>
          <p:sp>
            <p:nvSpPr>
              <p:cNvPr name="Freeform 22" id="22"/>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7ED957"/>
              </a:solidFill>
            </p:spPr>
          </p:sp>
          <p:sp>
            <p:nvSpPr>
              <p:cNvPr name="TextBox 23" id="23"/>
              <p:cNvSpPr txBox="true"/>
              <p:nvPr/>
            </p:nvSpPr>
            <p:spPr>
              <a:xfrm>
                <a:off x="76200" y="9525"/>
                <a:ext cx="660400" cy="727075"/>
              </a:xfrm>
              <a:prstGeom prst="rect">
                <a:avLst/>
              </a:prstGeom>
            </p:spPr>
            <p:txBody>
              <a:bodyPr anchor="ctr" rtlCol="false" tIns="56813" lIns="56813" bIns="56813" rIns="56813"/>
              <a:lstStyle/>
              <a:p>
                <a:pPr algn="ctr">
                  <a:lnSpc>
                    <a:spcPts val="3151"/>
                  </a:lnSpc>
                </a:pPr>
              </a:p>
            </p:txBody>
          </p:sp>
        </p:grpSp>
      </p:gr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DAG7GJMNNnU</dc:identifier>
  <dcterms:modified xsi:type="dcterms:W3CDTF">2011-08-01T06:04:30Z</dcterms:modified>
  <cp:revision>1</cp:revision>
  <dc:title>DoAnNhom04</dc:title>
</cp:coreProperties>
</file>